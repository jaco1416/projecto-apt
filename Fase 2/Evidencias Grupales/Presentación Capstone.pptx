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10287000" cx="18288000"/>
  <p:notesSz cx="6858000" cy="9144000"/>
  <p:embeddedFontLst>
    <p:embeddedFont>
      <p:font typeface="League Spartan"/>
      <p:regular r:id="rId31"/>
      <p:bold r:id="rId32"/>
    </p:embeddedFont>
    <p:embeddedFont>
      <p:font typeface="Raleway"/>
      <p:bold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iY7zv2C83AYNHWP87VpHeRNEJ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A894F3-C691-49A8-9997-6187D52BC20F}">
  <a:tblStyle styleId="{FAA894F3-C691-49A8-9997-6187D52BC20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agueSpartan-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bold.fntdata"/><Relationship Id="rId10" Type="http://schemas.openxmlformats.org/officeDocument/2006/relationships/slide" Target="slides/slide4.xml"/><Relationship Id="rId32" Type="http://schemas.openxmlformats.org/officeDocument/2006/relationships/font" Target="fonts/LeagueSpartan-bold.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Raleway-boldItalic.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8a0933e8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8a0933e8c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4.jpg"/><Relationship Id="rId6"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8.jp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32.jpg"/><Relationship Id="rId7" Type="http://schemas.openxmlformats.org/officeDocument/2006/relationships/image" Target="../media/image3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38.png"/><Relationship Id="rId7"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https://youtu.be/ACXRkicgBq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4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83" name="Shape 83"/>
        <p:cNvGrpSpPr/>
        <p:nvPr/>
      </p:nvGrpSpPr>
      <p:grpSpPr>
        <a:xfrm>
          <a:off x="0" y="0"/>
          <a:ext cx="0" cy="0"/>
          <a:chOff x="0" y="0"/>
          <a:chExt cx="0" cy="0"/>
        </a:xfrm>
      </p:grpSpPr>
      <p:sp>
        <p:nvSpPr>
          <p:cNvPr id="84" name="Google Shape;84;p1"/>
          <p:cNvSpPr/>
          <p:nvPr/>
        </p:nvSpPr>
        <p:spPr>
          <a:xfrm>
            <a:off x="16375961" y="3791277"/>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4318561" y="636562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p:nvPr/>
        </p:nvSpPr>
        <p:spPr>
          <a:xfrm rot="-9925644">
            <a:off x="-1308266" y="2228127"/>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87" name="Google Shape;87;p1"/>
          <p:cNvSpPr/>
          <p:nvPr/>
        </p:nvSpPr>
        <p:spPr>
          <a:xfrm rot="10800000">
            <a:off x="-183904" y="-164974"/>
            <a:ext cx="4114800" cy="4114800"/>
          </a:xfrm>
          <a:custGeom>
            <a:rect b="b" l="l" r="r" t="t"/>
            <a:pathLst>
              <a:path extrusionOk="0" h="4114800" w="4114800">
                <a:moveTo>
                  <a:pt x="4114800" y="4114800"/>
                </a:moveTo>
                <a:lnTo>
                  <a:pt x="0" y="4114800"/>
                </a:lnTo>
                <a:lnTo>
                  <a:pt x="0" y="0"/>
                </a:lnTo>
                <a:lnTo>
                  <a:pt x="4114800" y="0"/>
                </a:lnTo>
                <a:lnTo>
                  <a:pt x="4114800" y="4114800"/>
                </a:lnTo>
                <a:close/>
              </a:path>
            </a:pathLst>
          </a:custGeom>
          <a:blipFill rotWithShape="1">
            <a:blip r:embed="rId4">
              <a:alphaModFix/>
            </a:blip>
            <a:stretch>
              <a:fillRect b="0" l="0" r="0" t="0"/>
            </a:stretch>
          </a:blipFill>
          <a:ln>
            <a:noFill/>
          </a:ln>
        </p:spPr>
      </p:sp>
      <p:sp>
        <p:nvSpPr>
          <p:cNvPr id="88" name="Google Shape;88;p1"/>
          <p:cNvSpPr txBox="1"/>
          <p:nvPr/>
        </p:nvSpPr>
        <p:spPr>
          <a:xfrm>
            <a:off x="2823226" y="2914751"/>
            <a:ext cx="12641548" cy="241935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0" i="0" lang="en-US" sz="7999" u="none" cap="none" strike="noStrike">
                <a:solidFill>
                  <a:srgbClr val="3D5E89"/>
                </a:solidFill>
                <a:latin typeface="League Spartan"/>
                <a:ea typeface="League Spartan"/>
                <a:cs typeface="League Spartan"/>
                <a:sym typeface="League Spartan"/>
              </a:rPr>
              <a:t>PRESENTACIÓN CAPSTONE</a:t>
            </a:r>
            <a:endParaRPr/>
          </a:p>
        </p:txBody>
      </p:sp>
      <p:sp>
        <p:nvSpPr>
          <p:cNvPr id="89" name="Google Shape;89;p1"/>
          <p:cNvSpPr txBox="1"/>
          <p:nvPr/>
        </p:nvSpPr>
        <p:spPr>
          <a:xfrm>
            <a:off x="5190384" y="5440054"/>
            <a:ext cx="7907232" cy="77343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4200" u="none" cap="none" strike="noStrike">
                <a:solidFill>
                  <a:srgbClr val="3D5E89"/>
                </a:solidFill>
                <a:latin typeface="League Spartan"/>
                <a:ea typeface="League Spartan"/>
                <a:cs typeface="League Spartan"/>
                <a:sym typeface="League Spartan"/>
              </a:rPr>
              <a:t>Proyecto Divino Biscochito</a:t>
            </a:r>
            <a:endParaRPr/>
          </a:p>
        </p:txBody>
      </p:sp>
      <p:sp>
        <p:nvSpPr>
          <p:cNvPr id="90" name="Google Shape;90;p1"/>
          <p:cNvSpPr txBox="1"/>
          <p:nvPr/>
        </p:nvSpPr>
        <p:spPr>
          <a:xfrm>
            <a:off x="3129087" y="6386112"/>
            <a:ext cx="12029827" cy="2396490"/>
          </a:xfrm>
          <a:prstGeom prst="rect">
            <a:avLst/>
          </a:prstGeom>
          <a:noFill/>
          <a:ln>
            <a:noFill/>
          </a:ln>
        </p:spPr>
        <p:txBody>
          <a:bodyPr anchorCtr="0" anchor="t" bIns="0" lIns="0" spcFirstLastPara="1" rIns="0" wrap="square" tIns="0">
            <a:spAutoFit/>
          </a:bodyPr>
          <a:lstStyle/>
          <a:p>
            <a:pPr indent="0" lvl="0" marL="0" marR="0" rtl="0" algn="ctr">
              <a:lnSpc>
                <a:spcPct val="150019"/>
              </a:lnSpc>
              <a:spcBef>
                <a:spcPts val="0"/>
              </a:spcBef>
              <a:spcAft>
                <a:spcPts val="0"/>
              </a:spcAft>
              <a:buNone/>
            </a:pPr>
            <a:r>
              <a:rPr b="1" i="0" lang="en-US" sz="2599" u="none" cap="none" strike="noStrike">
                <a:solidFill>
                  <a:srgbClr val="3D5E89"/>
                </a:solidFill>
                <a:latin typeface="League Spartan"/>
                <a:ea typeface="League Spartan"/>
                <a:cs typeface="League Spartan"/>
                <a:sym typeface="League Spartan"/>
              </a:rPr>
              <a:t>Ingeniería Informática</a:t>
            </a:r>
            <a:endParaRPr/>
          </a:p>
          <a:p>
            <a:pPr indent="0" lvl="0" marL="0" marR="0" rtl="0" algn="ctr">
              <a:lnSpc>
                <a:spcPct val="150019"/>
              </a:lnSpc>
              <a:spcBef>
                <a:spcPts val="0"/>
              </a:spcBef>
              <a:spcAft>
                <a:spcPts val="0"/>
              </a:spcAft>
              <a:buNone/>
            </a:pPr>
            <a:r>
              <a:rPr b="1" i="0" lang="en-US" sz="2599" u="none" cap="none" strike="noStrike">
                <a:solidFill>
                  <a:srgbClr val="3D5E89"/>
                </a:solidFill>
                <a:latin typeface="League Spartan"/>
                <a:ea typeface="League Spartan"/>
                <a:cs typeface="League Spartan"/>
                <a:sym typeface="League Spartan"/>
              </a:rPr>
              <a:t>Escuela de Informática y Telecomunicaciones</a:t>
            </a:r>
            <a:endParaRPr/>
          </a:p>
          <a:p>
            <a:pPr indent="0" lvl="0" marL="0" marR="0" rtl="0" algn="ctr">
              <a:lnSpc>
                <a:spcPct val="150019"/>
              </a:lnSpc>
              <a:spcBef>
                <a:spcPts val="0"/>
              </a:spcBef>
              <a:spcAft>
                <a:spcPts val="0"/>
              </a:spcAft>
              <a:buNone/>
            </a:pPr>
            <a:r>
              <a:rPr b="1" i="0" lang="en-US" sz="2599" u="none" cap="none" strike="noStrike">
                <a:solidFill>
                  <a:srgbClr val="3D5E89"/>
                </a:solidFill>
                <a:latin typeface="League Spartan"/>
                <a:ea typeface="League Spartan"/>
                <a:cs typeface="League Spartan"/>
                <a:sym typeface="League Spartan"/>
              </a:rPr>
              <a:t>Sede Puente alto</a:t>
            </a:r>
            <a:endParaRPr/>
          </a:p>
          <a:p>
            <a:pPr indent="0" lvl="0" marL="0" marR="0" rtl="0" algn="ctr">
              <a:lnSpc>
                <a:spcPct val="150019"/>
              </a:lnSpc>
              <a:spcBef>
                <a:spcPts val="0"/>
              </a:spcBef>
              <a:spcAft>
                <a:spcPts val="0"/>
              </a:spcAft>
              <a:buNone/>
            </a:pPr>
            <a:r>
              <a:rPr b="1" i="0" lang="en-US" sz="2599" u="none" cap="none" strike="noStrike">
                <a:solidFill>
                  <a:srgbClr val="3D5E89"/>
                </a:solidFill>
                <a:latin typeface="League Spartan"/>
                <a:ea typeface="League Spartan"/>
                <a:cs typeface="League Spartan"/>
                <a:sym typeface="League Spartan"/>
              </a:rPr>
              <a:t>2025</a:t>
            </a:r>
            <a:endParaRPr/>
          </a:p>
          <a:p>
            <a:pPr indent="0" lvl="0" marL="0" marR="0" rtl="0" algn="ctr">
              <a:lnSpc>
                <a:spcPct val="150019"/>
              </a:lnSpc>
              <a:spcBef>
                <a:spcPts val="0"/>
              </a:spcBef>
              <a:spcAft>
                <a:spcPts val="0"/>
              </a:spcAft>
              <a:buNone/>
            </a:pPr>
            <a:r>
              <a:t/>
            </a:r>
            <a:endParaRPr b="1" i="0" sz="2599" u="none" cap="none" strike="noStrike">
              <a:solidFill>
                <a:srgbClr val="3D5E89"/>
              </a:solidFill>
              <a:latin typeface="League Spartan"/>
              <a:ea typeface="League Spartan"/>
              <a:cs typeface="League Spartan"/>
              <a:sym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D5E89"/>
        </a:solidFill>
      </p:bgPr>
    </p:bg>
    <p:spTree>
      <p:nvGrpSpPr>
        <p:cNvPr id="94" name="Shape 94"/>
        <p:cNvGrpSpPr/>
        <p:nvPr/>
      </p:nvGrpSpPr>
      <p:grpSpPr>
        <a:xfrm>
          <a:off x="0" y="0"/>
          <a:ext cx="0" cy="0"/>
          <a:chOff x="0" y="0"/>
          <a:chExt cx="0" cy="0"/>
        </a:xfrm>
      </p:grpSpPr>
      <p:sp>
        <p:nvSpPr>
          <p:cNvPr id="95" name="Google Shape;95;p2"/>
          <p:cNvSpPr txBox="1"/>
          <p:nvPr/>
        </p:nvSpPr>
        <p:spPr>
          <a:xfrm>
            <a:off x="2011334" y="1776883"/>
            <a:ext cx="14265333" cy="24479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8000" u="none" cap="none" strike="noStrike">
                <a:solidFill>
                  <a:srgbClr val="FFFFFF"/>
                </a:solidFill>
                <a:latin typeface="League Spartan"/>
                <a:ea typeface="League Spartan"/>
                <a:cs typeface="League Spartan"/>
                <a:sym typeface="League Spartan"/>
              </a:rPr>
              <a:t>INTEGRANTES DEL PROYECTO</a:t>
            </a:r>
            <a:endParaRPr/>
          </a:p>
        </p:txBody>
      </p:sp>
      <p:sp>
        <p:nvSpPr>
          <p:cNvPr id="96" name="Google Shape;96;p2"/>
          <p:cNvSpPr/>
          <p:nvPr/>
        </p:nvSpPr>
        <p:spPr>
          <a:xfrm rot="-2820129">
            <a:off x="2827022" y="1028700"/>
            <a:ext cx="1084730" cy="749380"/>
          </a:xfrm>
          <a:custGeom>
            <a:rect b="b" l="l" r="r" t="t"/>
            <a:pathLst>
              <a:path extrusionOk="0" h="749380" w="1084730">
                <a:moveTo>
                  <a:pt x="0" y="0"/>
                </a:moveTo>
                <a:lnTo>
                  <a:pt x="1084730" y="0"/>
                </a:lnTo>
                <a:lnTo>
                  <a:pt x="1084730" y="749380"/>
                </a:lnTo>
                <a:lnTo>
                  <a:pt x="0" y="749380"/>
                </a:lnTo>
                <a:lnTo>
                  <a:pt x="0" y="0"/>
                </a:lnTo>
                <a:close/>
              </a:path>
            </a:pathLst>
          </a:custGeom>
          <a:blipFill rotWithShape="1">
            <a:blip r:embed="rId3">
              <a:alphaModFix/>
            </a:blip>
            <a:stretch>
              <a:fillRect b="0" l="0" r="0" t="0"/>
            </a:stretch>
          </a:blipFill>
          <a:ln>
            <a:noFill/>
          </a:ln>
        </p:spPr>
      </p:sp>
      <p:sp>
        <p:nvSpPr>
          <p:cNvPr id="97" name="Google Shape;97;p2"/>
          <p:cNvSpPr/>
          <p:nvPr/>
        </p:nvSpPr>
        <p:spPr>
          <a:xfrm rot="9142812">
            <a:off x="-2585811" y="6422329"/>
            <a:ext cx="4709171" cy="6065677"/>
          </a:xfrm>
          <a:custGeom>
            <a:rect b="b" l="l" r="r" t="t"/>
            <a:pathLst>
              <a:path extrusionOk="0" h="6065677" w="4709171">
                <a:moveTo>
                  <a:pt x="0" y="0"/>
                </a:moveTo>
                <a:lnTo>
                  <a:pt x="4709171" y="0"/>
                </a:lnTo>
                <a:lnTo>
                  <a:pt x="4709171" y="6065677"/>
                </a:lnTo>
                <a:lnTo>
                  <a:pt x="0" y="6065677"/>
                </a:lnTo>
                <a:lnTo>
                  <a:pt x="0" y="0"/>
                </a:lnTo>
                <a:close/>
              </a:path>
            </a:pathLst>
          </a:custGeom>
          <a:blipFill rotWithShape="1">
            <a:blip r:embed="rId4">
              <a:alphaModFix/>
            </a:blip>
            <a:stretch>
              <a:fillRect b="0" l="0" r="0" t="0"/>
            </a:stretch>
          </a:blipFill>
          <a:ln>
            <a:noFill/>
          </a:ln>
        </p:spPr>
      </p:sp>
      <p:sp>
        <p:nvSpPr>
          <p:cNvPr id="98" name="Google Shape;98;p2"/>
          <p:cNvSpPr/>
          <p:nvPr/>
        </p:nvSpPr>
        <p:spPr>
          <a:xfrm rot="-2481050">
            <a:off x="16352989" y="-1306212"/>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5">
              <a:alphaModFix/>
            </a:blip>
            <a:stretch>
              <a:fillRect b="0" l="0" r="0" t="0"/>
            </a:stretch>
          </a:blipFill>
          <a:ln>
            <a:noFill/>
          </a:ln>
        </p:spPr>
      </p:sp>
      <p:sp>
        <p:nvSpPr>
          <p:cNvPr id="99" name="Google Shape;99;p2"/>
          <p:cNvSpPr/>
          <p:nvPr/>
        </p:nvSpPr>
        <p:spPr>
          <a:xfrm>
            <a:off x="4618630" y="3966991"/>
            <a:ext cx="8349607" cy="2110173"/>
          </a:xfrm>
          <a:custGeom>
            <a:rect b="b" l="l" r="r" t="t"/>
            <a:pathLst>
              <a:path extrusionOk="0" h="2110173" w="8349607">
                <a:moveTo>
                  <a:pt x="0" y="0"/>
                </a:moveTo>
                <a:lnTo>
                  <a:pt x="8349607" y="0"/>
                </a:lnTo>
                <a:lnTo>
                  <a:pt x="8349607" y="2110174"/>
                </a:lnTo>
                <a:lnTo>
                  <a:pt x="0" y="2110174"/>
                </a:lnTo>
                <a:lnTo>
                  <a:pt x="0" y="0"/>
                </a:lnTo>
                <a:close/>
              </a:path>
            </a:pathLst>
          </a:custGeom>
          <a:blipFill rotWithShape="1">
            <a:blip r:embed="rId6">
              <a:alphaModFix/>
            </a:blip>
            <a:stretch>
              <a:fillRect b="0" l="0" r="0" t="0"/>
            </a:stretch>
          </a:blipFill>
          <a:ln>
            <a:noFill/>
          </a:ln>
        </p:spPr>
      </p:sp>
      <p:sp>
        <p:nvSpPr>
          <p:cNvPr id="100" name="Google Shape;100;p2"/>
          <p:cNvSpPr txBox="1"/>
          <p:nvPr/>
        </p:nvSpPr>
        <p:spPr>
          <a:xfrm>
            <a:off x="5243960" y="4916531"/>
            <a:ext cx="10020855" cy="406313"/>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1" i="0" lang="en-US" sz="2378" u="none" cap="none" strike="noStrike">
                <a:solidFill>
                  <a:srgbClr val="D4E1F6"/>
                </a:solidFill>
                <a:latin typeface="League Spartan"/>
                <a:ea typeface="League Spartan"/>
                <a:cs typeface="League Spartan"/>
                <a:sym typeface="League Spartan"/>
              </a:rPr>
              <a:t>Joaquin Galarce: Desarrollador y diseñador</a:t>
            </a:r>
            <a:endParaRPr/>
          </a:p>
        </p:txBody>
      </p:sp>
      <p:sp>
        <p:nvSpPr>
          <p:cNvPr id="101" name="Google Shape;101;p2"/>
          <p:cNvSpPr/>
          <p:nvPr/>
        </p:nvSpPr>
        <p:spPr>
          <a:xfrm>
            <a:off x="4618630" y="5903207"/>
            <a:ext cx="8349607" cy="2110173"/>
          </a:xfrm>
          <a:custGeom>
            <a:rect b="b" l="l" r="r" t="t"/>
            <a:pathLst>
              <a:path extrusionOk="0" h="2110173" w="8349607">
                <a:moveTo>
                  <a:pt x="0" y="0"/>
                </a:moveTo>
                <a:lnTo>
                  <a:pt x="8349607" y="0"/>
                </a:lnTo>
                <a:lnTo>
                  <a:pt x="8349607" y="2110173"/>
                </a:lnTo>
                <a:lnTo>
                  <a:pt x="0" y="2110173"/>
                </a:lnTo>
                <a:lnTo>
                  <a:pt x="0" y="0"/>
                </a:lnTo>
                <a:close/>
              </a:path>
            </a:pathLst>
          </a:custGeom>
          <a:blipFill rotWithShape="1">
            <a:blip r:embed="rId6">
              <a:alphaModFix/>
            </a:blip>
            <a:stretch>
              <a:fillRect b="0" l="0" r="0" t="0"/>
            </a:stretch>
          </a:blipFill>
          <a:ln>
            <a:noFill/>
          </a:ln>
        </p:spPr>
      </p:sp>
      <p:sp>
        <p:nvSpPr>
          <p:cNvPr id="102" name="Google Shape;102;p2"/>
          <p:cNvSpPr txBox="1"/>
          <p:nvPr/>
        </p:nvSpPr>
        <p:spPr>
          <a:xfrm>
            <a:off x="5243960" y="6772490"/>
            <a:ext cx="7490728" cy="40627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379" u="none" cap="none" strike="noStrike">
                <a:solidFill>
                  <a:srgbClr val="D4E1F6"/>
                </a:solidFill>
                <a:latin typeface="League Spartan"/>
                <a:ea typeface="League Spartan"/>
                <a:cs typeface="League Spartan"/>
                <a:sym typeface="League Spartan"/>
              </a:rPr>
              <a:t>Baltazar Roa Soto: Jefe y gerente de proyecto</a:t>
            </a:r>
            <a:endParaRPr/>
          </a:p>
        </p:txBody>
      </p:sp>
      <p:sp>
        <p:nvSpPr>
          <p:cNvPr id="103" name="Google Shape;103;p2"/>
          <p:cNvSpPr/>
          <p:nvPr/>
        </p:nvSpPr>
        <p:spPr>
          <a:xfrm>
            <a:off x="4618630" y="7843005"/>
            <a:ext cx="8349607" cy="2110173"/>
          </a:xfrm>
          <a:custGeom>
            <a:rect b="b" l="l" r="r" t="t"/>
            <a:pathLst>
              <a:path extrusionOk="0" h="2110173" w="8349607">
                <a:moveTo>
                  <a:pt x="0" y="0"/>
                </a:moveTo>
                <a:lnTo>
                  <a:pt x="8349607" y="0"/>
                </a:lnTo>
                <a:lnTo>
                  <a:pt x="8349607" y="2110173"/>
                </a:lnTo>
                <a:lnTo>
                  <a:pt x="0" y="2110173"/>
                </a:lnTo>
                <a:lnTo>
                  <a:pt x="0" y="0"/>
                </a:lnTo>
                <a:close/>
              </a:path>
            </a:pathLst>
          </a:custGeom>
          <a:blipFill rotWithShape="1">
            <a:blip r:embed="rId6">
              <a:alphaModFix/>
            </a:blip>
            <a:stretch>
              <a:fillRect b="0" l="0" r="0" t="0"/>
            </a:stretch>
          </a:blipFill>
          <a:ln>
            <a:noFill/>
          </a:ln>
        </p:spPr>
      </p:sp>
      <p:sp>
        <p:nvSpPr>
          <p:cNvPr id="104" name="Google Shape;104;p2"/>
          <p:cNvSpPr txBox="1"/>
          <p:nvPr/>
        </p:nvSpPr>
        <p:spPr>
          <a:xfrm>
            <a:off x="5243960" y="8708705"/>
            <a:ext cx="3549474" cy="40627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379" u="none" cap="none" strike="noStrike">
                <a:solidFill>
                  <a:srgbClr val="D4E1F6"/>
                </a:solidFill>
                <a:latin typeface="League Spartan"/>
                <a:ea typeface="League Spartan"/>
                <a:cs typeface="League Spartan"/>
                <a:sym typeface="League Spartan"/>
              </a:rPr>
              <a:t>Angel Pinto: DBA, QA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108" name="Shape 108"/>
        <p:cNvGrpSpPr/>
        <p:nvPr/>
      </p:nvGrpSpPr>
      <p:grpSpPr>
        <a:xfrm>
          <a:off x="0" y="0"/>
          <a:ext cx="0" cy="0"/>
          <a:chOff x="0" y="0"/>
          <a:chExt cx="0" cy="0"/>
        </a:xfrm>
      </p:grpSpPr>
      <p:sp>
        <p:nvSpPr>
          <p:cNvPr id="109" name="Google Shape;109;p3"/>
          <p:cNvSpPr txBox="1"/>
          <p:nvPr/>
        </p:nvSpPr>
        <p:spPr>
          <a:xfrm>
            <a:off x="2290889" y="1270246"/>
            <a:ext cx="14084886" cy="2286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7500" u="none" cap="none" strike="noStrike">
                <a:solidFill>
                  <a:srgbClr val="3D5E89"/>
                </a:solidFill>
                <a:latin typeface="League Spartan"/>
                <a:ea typeface="League Spartan"/>
                <a:cs typeface="League Spartan"/>
                <a:sym typeface="League Spartan"/>
              </a:rPr>
              <a:t>Descripción del Proyecto</a:t>
            </a:r>
            <a:endParaRPr/>
          </a:p>
          <a:p>
            <a:pPr indent="0" lvl="0" marL="0" marR="0" rtl="0" algn="ctr">
              <a:lnSpc>
                <a:spcPct val="120000"/>
              </a:lnSpc>
              <a:spcBef>
                <a:spcPts val="0"/>
              </a:spcBef>
              <a:spcAft>
                <a:spcPts val="0"/>
              </a:spcAft>
              <a:buNone/>
            </a:pPr>
            <a:r>
              <a:t/>
            </a:r>
            <a:endParaRPr b="1" i="0" sz="7500" u="none" cap="none" strike="noStrike">
              <a:solidFill>
                <a:srgbClr val="3D5E89"/>
              </a:solidFill>
              <a:latin typeface="League Spartan"/>
              <a:ea typeface="League Spartan"/>
              <a:cs typeface="League Spartan"/>
              <a:sym typeface="League Spartan"/>
            </a:endParaRPr>
          </a:p>
        </p:txBody>
      </p:sp>
      <p:sp>
        <p:nvSpPr>
          <p:cNvPr id="110" name="Google Shape;110;p3"/>
          <p:cNvSpPr/>
          <p:nvPr/>
        </p:nvSpPr>
        <p:spPr>
          <a:xfrm rot="-10708336">
            <a:off x="-1674902" y="1806892"/>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111" name="Google Shape;111;p3"/>
          <p:cNvSpPr/>
          <p:nvPr/>
        </p:nvSpPr>
        <p:spPr>
          <a:xfrm rot="10800000">
            <a:off x="-537897" y="-554514"/>
            <a:ext cx="4223721" cy="4223721"/>
          </a:xfrm>
          <a:custGeom>
            <a:rect b="b" l="l" r="r" t="t"/>
            <a:pathLst>
              <a:path extrusionOk="0" h="4223721" w="4223721">
                <a:moveTo>
                  <a:pt x="4223721" y="4223722"/>
                </a:moveTo>
                <a:lnTo>
                  <a:pt x="0" y="4223722"/>
                </a:lnTo>
                <a:lnTo>
                  <a:pt x="0" y="0"/>
                </a:lnTo>
                <a:lnTo>
                  <a:pt x="4223721" y="0"/>
                </a:lnTo>
                <a:lnTo>
                  <a:pt x="4223721" y="4223722"/>
                </a:lnTo>
                <a:close/>
              </a:path>
            </a:pathLst>
          </a:custGeom>
          <a:blipFill rotWithShape="1">
            <a:blip r:embed="rId4">
              <a:alphaModFix/>
            </a:blip>
            <a:stretch>
              <a:fillRect b="0" l="0" r="0" t="0"/>
            </a:stretch>
          </a:blipFill>
          <a:ln>
            <a:noFill/>
          </a:ln>
        </p:spPr>
      </p:sp>
      <p:sp>
        <p:nvSpPr>
          <p:cNvPr id="112" name="Google Shape;112;p3"/>
          <p:cNvSpPr/>
          <p:nvPr/>
        </p:nvSpPr>
        <p:spPr>
          <a:xfrm>
            <a:off x="16188639" y="6692265"/>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113" name="Google Shape;113;p3"/>
          <p:cNvSpPr/>
          <p:nvPr/>
        </p:nvSpPr>
        <p:spPr>
          <a:xfrm>
            <a:off x="15434354" y="-964732"/>
            <a:ext cx="4205442" cy="4205425"/>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5">
              <a:alphaModFix/>
            </a:blip>
            <a:stretch>
              <a:fillRect b="-24998" l="0" r="0" t="-2499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247891" y="7155587"/>
            <a:ext cx="4205442" cy="4205425"/>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6">
              <a:alphaModFix/>
            </a:blip>
            <a:stretch>
              <a:fillRect b="0" l="-25045" r="-2504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txBox="1"/>
          <p:nvPr/>
        </p:nvSpPr>
        <p:spPr>
          <a:xfrm>
            <a:off x="7916912" y="2650558"/>
            <a:ext cx="2454176" cy="4191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3D5E89"/>
                </a:solidFill>
                <a:latin typeface="League Spartan"/>
                <a:ea typeface="League Spartan"/>
                <a:cs typeface="League Spartan"/>
                <a:sym typeface="League Spartan"/>
              </a:rPr>
              <a:t>Problematica</a:t>
            </a:r>
            <a:endParaRPr/>
          </a:p>
        </p:txBody>
      </p:sp>
      <p:sp>
        <p:nvSpPr>
          <p:cNvPr id="116" name="Google Shape;116;p3"/>
          <p:cNvSpPr txBox="1"/>
          <p:nvPr/>
        </p:nvSpPr>
        <p:spPr>
          <a:xfrm>
            <a:off x="2177430" y="3422896"/>
            <a:ext cx="13933141" cy="4729180"/>
          </a:xfrm>
          <a:prstGeom prst="rect">
            <a:avLst/>
          </a:prstGeom>
          <a:noFill/>
          <a:ln>
            <a:noFill/>
          </a:ln>
        </p:spPr>
        <p:txBody>
          <a:bodyPr anchorCtr="0" anchor="t" bIns="0" lIns="0" spcFirstLastPara="1" rIns="0" wrap="square" tIns="0">
            <a:spAutoFit/>
          </a:bodyPr>
          <a:lstStyle/>
          <a:p>
            <a:pPr indent="0" lvl="0" marL="0" marR="0" rtl="0" algn="ctr">
              <a:lnSpc>
                <a:spcPct val="176018"/>
              </a:lnSpc>
              <a:spcBef>
                <a:spcPts val="0"/>
              </a:spcBef>
              <a:spcAft>
                <a:spcPts val="0"/>
              </a:spcAft>
              <a:buNone/>
            </a:pPr>
            <a:r>
              <a:rPr b="0" i="0" lang="en-US" sz="2406" u="none" cap="none" strike="noStrike">
                <a:solidFill>
                  <a:srgbClr val="3D5E89"/>
                </a:solidFill>
                <a:latin typeface="League Spartan"/>
                <a:ea typeface="League Spartan"/>
                <a:cs typeface="League Spartan"/>
                <a:sym typeface="League Spartan"/>
              </a:rPr>
              <a:t>La pastelería Divino Bizcochito enfrenta limitaciones en su gestión actual de pedidos y ventas, ya que depende de comunicación informal a través de redes sociales y mensajería, lo que genera desorganización, riesgo de errores y pérdida de información. </a:t>
            </a:r>
            <a:endParaRPr/>
          </a:p>
          <a:p>
            <a:pPr indent="0" lvl="0" marL="0" marR="0" rtl="0" algn="ctr">
              <a:lnSpc>
                <a:spcPct val="176018"/>
              </a:lnSpc>
              <a:spcBef>
                <a:spcPts val="0"/>
              </a:spcBef>
              <a:spcAft>
                <a:spcPts val="0"/>
              </a:spcAft>
              <a:buNone/>
            </a:pPr>
            <a:r>
              <a:rPr b="0" i="0" lang="en-US" sz="2406" u="none" cap="none" strike="noStrike">
                <a:solidFill>
                  <a:srgbClr val="3D5E89"/>
                </a:solidFill>
                <a:latin typeface="League Spartan"/>
                <a:ea typeface="League Spartan"/>
                <a:cs typeface="League Spartan"/>
                <a:sym typeface="League Spartan"/>
              </a:rPr>
              <a:t>La ausencia de un sistema centralizado dificulta la coordinación de pedidos, producción y entregas, mientras que los clientes carecen de un catálogo digital actualizado y de opciones claras para personalizar sus compras. </a:t>
            </a:r>
            <a:endParaRPr/>
          </a:p>
          <a:p>
            <a:pPr indent="0" lvl="0" marL="0" marR="0" rtl="0" algn="ctr">
              <a:lnSpc>
                <a:spcPct val="176018"/>
              </a:lnSpc>
              <a:spcBef>
                <a:spcPts val="0"/>
              </a:spcBef>
              <a:spcAft>
                <a:spcPts val="0"/>
              </a:spcAft>
              <a:buNone/>
            </a:pPr>
            <a:r>
              <a:t/>
            </a:r>
            <a:endParaRPr b="0" i="0" sz="2406" u="none" cap="none" strike="noStrike">
              <a:solidFill>
                <a:srgbClr val="3D5E89"/>
              </a:solidFill>
              <a:latin typeface="League Spartan"/>
              <a:ea typeface="League Spartan"/>
              <a:cs typeface="League Spartan"/>
              <a:sym typeface="League Spart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120" name="Shape 120"/>
        <p:cNvGrpSpPr/>
        <p:nvPr/>
      </p:nvGrpSpPr>
      <p:grpSpPr>
        <a:xfrm>
          <a:off x="0" y="0"/>
          <a:ext cx="0" cy="0"/>
          <a:chOff x="0" y="0"/>
          <a:chExt cx="0" cy="0"/>
        </a:xfrm>
      </p:grpSpPr>
      <p:sp>
        <p:nvSpPr>
          <p:cNvPr id="121" name="Google Shape;121;p4"/>
          <p:cNvSpPr txBox="1"/>
          <p:nvPr/>
        </p:nvSpPr>
        <p:spPr>
          <a:xfrm>
            <a:off x="2420752" y="490455"/>
            <a:ext cx="13446497" cy="1057275"/>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1" i="0" lang="en-US" sz="6999" u="none" cap="none" strike="noStrike">
                <a:solidFill>
                  <a:srgbClr val="3D5E89"/>
                </a:solidFill>
                <a:latin typeface="League Spartan"/>
                <a:ea typeface="League Spartan"/>
                <a:cs typeface="League Spartan"/>
                <a:sym typeface="League Spartan"/>
              </a:rPr>
              <a:t>Solución de la problemática</a:t>
            </a:r>
            <a:endParaRPr/>
          </a:p>
        </p:txBody>
      </p:sp>
      <p:sp>
        <p:nvSpPr>
          <p:cNvPr id="122" name="Google Shape;122;p4"/>
          <p:cNvSpPr txBox="1"/>
          <p:nvPr/>
        </p:nvSpPr>
        <p:spPr>
          <a:xfrm>
            <a:off x="3109465" y="2186246"/>
            <a:ext cx="11900217" cy="6850649"/>
          </a:xfrm>
          <a:prstGeom prst="rect">
            <a:avLst/>
          </a:prstGeom>
          <a:noFill/>
          <a:ln>
            <a:noFill/>
          </a:ln>
        </p:spPr>
        <p:txBody>
          <a:bodyPr anchorCtr="0" anchor="t" bIns="0" lIns="0" spcFirstLastPara="1" rIns="0" wrap="square" tIns="0">
            <a:spAutoFit/>
          </a:bodyPr>
          <a:lstStyle/>
          <a:p>
            <a:pPr indent="0" lvl="0" marL="0" marR="0" rtl="0" algn="ctr">
              <a:lnSpc>
                <a:spcPct val="150040"/>
              </a:lnSpc>
              <a:spcBef>
                <a:spcPts val="0"/>
              </a:spcBef>
              <a:spcAft>
                <a:spcPts val="0"/>
              </a:spcAft>
              <a:buNone/>
            </a:pPr>
            <a:r>
              <a:rPr b="1" i="0" lang="en-US" sz="2442" u="none" cap="none" strike="noStrike">
                <a:solidFill>
                  <a:srgbClr val="3D5E89"/>
                </a:solidFill>
                <a:latin typeface="Raleway"/>
                <a:ea typeface="Raleway"/>
                <a:cs typeface="Raleway"/>
                <a:sym typeface="Raleway"/>
              </a:rPr>
              <a:t>Para responder a las dificultades actuales de Divino Bizcochito, se desarrollará una solución tecnológica integral conformada por una plataforma web y una aplicación móvil.</a:t>
            </a:r>
            <a:endParaRPr/>
          </a:p>
          <a:p>
            <a:pPr indent="0" lvl="0" marL="0" marR="0" rtl="0" algn="ctr">
              <a:lnSpc>
                <a:spcPct val="150040"/>
              </a:lnSpc>
              <a:spcBef>
                <a:spcPts val="0"/>
              </a:spcBef>
              <a:spcAft>
                <a:spcPts val="0"/>
              </a:spcAft>
              <a:buNone/>
            </a:pPr>
            <a:r>
              <a:rPr b="1" i="0" lang="en-US" sz="2442" u="none" cap="none" strike="noStrike">
                <a:solidFill>
                  <a:srgbClr val="3D5E89"/>
                </a:solidFill>
                <a:latin typeface="Raleway"/>
                <a:ea typeface="Raleway"/>
                <a:cs typeface="Raleway"/>
                <a:sym typeface="Raleway"/>
              </a:rPr>
              <a:t>La web permitirá a los clientes visualizar un catálogo digital, realizar pedidos personalizados, registrarse, iniciar sesión y dar seguimiento en tiempo real a sus compras, además de ofrecer un área administrativa para gestionar pedidos, organizar la producción y generar reportes básicos. </a:t>
            </a:r>
            <a:endParaRPr/>
          </a:p>
          <a:p>
            <a:pPr indent="0" lvl="0" marL="0" marR="0" rtl="0" algn="ctr">
              <a:lnSpc>
                <a:spcPct val="150040"/>
              </a:lnSpc>
              <a:spcBef>
                <a:spcPts val="0"/>
              </a:spcBef>
              <a:spcAft>
                <a:spcPts val="0"/>
              </a:spcAft>
              <a:buNone/>
            </a:pPr>
            <a:r>
              <a:rPr b="1" i="0" lang="en-US" sz="2442" u="none" cap="none" strike="noStrike">
                <a:solidFill>
                  <a:srgbClr val="3D5E89"/>
                </a:solidFill>
                <a:latin typeface="Raleway"/>
                <a:ea typeface="Raleway"/>
                <a:cs typeface="Raleway"/>
                <a:sym typeface="Raleway"/>
              </a:rPr>
              <a:t>La aplicación móvil, orientada exclusivamente al cliente, ofrecerá catálogo optimizado, configurador de pedidos, autenticación, seguimiento en tiempo real y notificaciones push. </a:t>
            </a:r>
            <a:endParaRPr/>
          </a:p>
          <a:p>
            <a:pPr indent="0" lvl="0" marL="0" marR="0" rtl="0" algn="ctr">
              <a:lnSpc>
                <a:spcPct val="150040"/>
              </a:lnSpc>
              <a:spcBef>
                <a:spcPts val="0"/>
              </a:spcBef>
              <a:spcAft>
                <a:spcPts val="0"/>
              </a:spcAft>
              <a:buNone/>
            </a:pPr>
            <a:r>
              <a:t/>
            </a:r>
            <a:endParaRPr b="1" i="0" sz="2442" u="none" cap="none" strike="noStrike">
              <a:solidFill>
                <a:srgbClr val="3D5E89"/>
              </a:solidFill>
              <a:latin typeface="Raleway"/>
              <a:ea typeface="Raleway"/>
              <a:cs typeface="Raleway"/>
              <a:sym typeface="Raleway"/>
            </a:endParaRPr>
          </a:p>
          <a:p>
            <a:pPr indent="0" lvl="0" marL="0" marR="0" rtl="0" algn="ctr">
              <a:lnSpc>
                <a:spcPct val="150040"/>
              </a:lnSpc>
              <a:spcBef>
                <a:spcPts val="0"/>
              </a:spcBef>
              <a:spcAft>
                <a:spcPts val="0"/>
              </a:spcAft>
              <a:buNone/>
            </a:pPr>
            <a:r>
              <a:rPr b="1" i="0" lang="en-US" sz="2442" u="none" cap="none" strike="noStrike">
                <a:solidFill>
                  <a:srgbClr val="3D5E89"/>
                </a:solidFill>
                <a:latin typeface="Raleway"/>
                <a:ea typeface="Raleway"/>
                <a:cs typeface="Raleway"/>
                <a:sym typeface="Raleway"/>
              </a:rPr>
              <a:t>Con esta digitalización se busca reducir errores en la toma de pedidos, mejorar la comunicación, ofrecer una experiencia moderna y confiable, optimizar la operación interna y fortalecer la competitividad y el crecimiento de la empresa.</a:t>
            </a:r>
            <a:endParaRPr/>
          </a:p>
          <a:p>
            <a:pPr indent="0" lvl="0" marL="0" marR="0" rtl="0" algn="ctr">
              <a:lnSpc>
                <a:spcPct val="150040"/>
              </a:lnSpc>
              <a:spcBef>
                <a:spcPts val="0"/>
              </a:spcBef>
              <a:spcAft>
                <a:spcPts val="0"/>
              </a:spcAft>
              <a:buNone/>
            </a:pPr>
            <a:r>
              <a:t/>
            </a:r>
            <a:endParaRPr b="1" i="0" sz="2442" u="none" cap="none" strike="noStrike">
              <a:solidFill>
                <a:srgbClr val="3D5E89"/>
              </a:solidFill>
              <a:latin typeface="Raleway"/>
              <a:ea typeface="Raleway"/>
              <a:cs typeface="Raleway"/>
              <a:sym typeface="Raleway"/>
            </a:endParaRPr>
          </a:p>
        </p:txBody>
      </p:sp>
      <p:sp>
        <p:nvSpPr>
          <p:cNvPr id="123" name="Google Shape;123;p4"/>
          <p:cNvSpPr/>
          <p:nvPr/>
        </p:nvSpPr>
        <p:spPr>
          <a:xfrm rot="7325645">
            <a:off x="-3609912" y="5502000"/>
            <a:ext cx="5124362" cy="6600466"/>
          </a:xfrm>
          <a:custGeom>
            <a:rect b="b" l="l" r="r" t="t"/>
            <a:pathLst>
              <a:path extrusionOk="0" h="6600466" w="5124362">
                <a:moveTo>
                  <a:pt x="0" y="0"/>
                </a:moveTo>
                <a:lnTo>
                  <a:pt x="5124362" y="0"/>
                </a:lnTo>
                <a:lnTo>
                  <a:pt x="5124362" y="6600467"/>
                </a:lnTo>
                <a:lnTo>
                  <a:pt x="0" y="6600467"/>
                </a:lnTo>
                <a:lnTo>
                  <a:pt x="0" y="0"/>
                </a:lnTo>
                <a:close/>
              </a:path>
            </a:pathLst>
          </a:custGeom>
          <a:blipFill rotWithShape="1">
            <a:blip r:embed="rId3">
              <a:alphaModFix/>
            </a:blip>
            <a:stretch>
              <a:fillRect b="0" l="0" r="0" t="0"/>
            </a:stretch>
          </a:blipFill>
          <a:ln>
            <a:noFill/>
          </a:ln>
        </p:spPr>
      </p:sp>
      <p:sp>
        <p:nvSpPr>
          <p:cNvPr id="124" name="Google Shape;124;p4"/>
          <p:cNvSpPr/>
          <p:nvPr/>
        </p:nvSpPr>
        <p:spPr>
          <a:xfrm>
            <a:off x="15147439" y="2271971"/>
            <a:ext cx="3793627" cy="3793612"/>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4">
              <a:alphaModFix/>
            </a:blip>
            <a:stretch>
              <a:fillRect b="0" l="-69398" r="-69396"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rot="-5400000">
            <a:off x="15147439" y="-1212179"/>
            <a:ext cx="4223721" cy="4223721"/>
          </a:xfrm>
          <a:custGeom>
            <a:rect b="b" l="l" r="r" t="t"/>
            <a:pathLst>
              <a:path extrusionOk="0" h="4223721" w="4223721">
                <a:moveTo>
                  <a:pt x="4223722" y="4223721"/>
                </a:moveTo>
                <a:lnTo>
                  <a:pt x="0" y="4223721"/>
                </a:lnTo>
                <a:lnTo>
                  <a:pt x="0" y="0"/>
                </a:lnTo>
                <a:lnTo>
                  <a:pt x="4223722" y="0"/>
                </a:lnTo>
                <a:lnTo>
                  <a:pt x="4223722" y="4223721"/>
                </a:lnTo>
                <a:close/>
              </a:path>
            </a:pathLst>
          </a:custGeom>
          <a:blipFill rotWithShape="1">
            <a:blip r:embed="rId5">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129" name="Shape 129"/>
        <p:cNvGrpSpPr/>
        <p:nvPr/>
      </p:nvGrpSpPr>
      <p:grpSpPr>
        <a:xfrm>
          <a:off x="0" y="0"/>
          <a:ext cx="0" cy="0"/>
          <a:chOff x="0" y="0"/>
          <a:chExt cx="0" cy="0"/>
        </a:xfrm>
      </p:grpSpPr>
      <p:sp>
        <p:nvSpPr>
          <p:cNvPr id="130" name="Google Shape;130;p5"/>
          <p:cNvSpPr txBox="1"/>
          <p:nvPr/>
        </p:nvSpPr>
        <p:spPr>
          <a:xfrm>
            <a:off x="1028700" y="2605874"/>
            <a:ext cx="16230600" cy="1057275"/>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i="0" lang="en-US" sz="6999" u="none" cap="none" strike="noStrike">
                <a:solidFill>
                  <a:srgbClr val="3D5E89"/>
                </a:solidFill>
                <a:latin typeface="League Spartan"/>
                <a:ea typeface="League Spartan"/>
                <a:cs typeface="League Spartan"/>
                <a:sym typeface="League Spartan"/>
              </a:rPr>
              <a:t>Objetivo general</a:t>
            </a:r>
            <a:endParaRPr/>
          </a:p>
        </p:txBody>
      </p:sp>
      <p:sp>
        <p:nvSpPr>
          <p:cNvPr id="131" name="Google Shape;131;p5"/>
          <p:cNvSpPr/>
          <p:nvPr/>
        </p:nvSpPr>
        <p:spPr>
          <a:xfrm rot="-10738371">
            <a:off x="-1255048" y="-218634"/>
            <a:ext cx="3415397" cy="4399223"/>
          </a:xfrm>
          <a:custGeom>
            <a:rect b="b" l="l" r="r" t="t"/>
            <a:pathLst>
              <a:path extrusionOk="0" h="4399223" w="3415397">
                <a:moveTo>
                  <a:pt x="0" y="0"/>
                </a:moveTo>
                <a:lnTo>
                  <a:pt x="3415397" y="0"/>
                </a:lnTo>
                <a:lnTo>
                  <a:pt x="3415397" y="4399223"/>
                </a:lnTo>
                <a:lnTo>
                  <a:pt x="0" y="4399223"/>
                </a:lnTo>
                <a:lnTo>
                  <a:pt x="0" y="0"/>
                </a:lnTo>
                <a:close/>
              </a:path>
            </a:pathLst>
          </a:custGeom>
          <a:blipFill rotWithShape="1">
            <a:blip r:embed="rId3">
              <a:alphaModFix/>
            </a:blip>
            <a:stretch>
              <a:fillRect b="0" l="0" r="0" t="0"/>
            </a:stretch>
          </a:blipFill>
          <a:ln>
            <a:noFill/>
          </a:ln>
        </p:spPr>
      </p:sp>
      <p:sp>
        <p:nvSpPr>
          <p:cNvPr id="132" name="Google Shape;132;p5"/>
          <p:cNvSpPr/>
          <p:nvPr/>
        </p:nvSpPr>
        <p:spPr>
          <a:xfrm rot="10800000">
            <a:off x="-342046" y="-460220"/>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133" name="Google Shape;133;p5"/>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134" name="Google Shape;134;p5"/>
          <p:cNvSpPr txBox="1"/>
          <p:nvPr/>
        </p:nvSpPr>
        <p:spPr>
          <a:xfrm>
            <a:off x="1349656" y="4915475"/>
            <a:ext cx="16143341" cy="2400300"/>
          </a:xfrm>
          <a:prstGeom prst="rect">
            <a:avLst/>
          </a:prstGeom>
          <a:noFill/>
          <a:ln>
            <a:noFill/>
          </a:ln>
        </p:spPr>
        <p:txBody>
          <a:bodyPr anchorCtr="0" anchor="t" bIns="0" lIns="0" spcFirstLastPara="1" rIns="0" wrap="square" tIns="0">
            <a:spAutoFit/>
          </a:bodyPr>
          <a:lstStyle/>
          <a:p>
            <a:pPr indent="0" lvl="0" marL="0" marR="0" rtl="0" algn="just">
              <a:lnSpc>
                <a:spcPct val="119985"/>
              </a:lnSpc>
              <a:spcBef>
                <a:spcPts val="0"/>
              </a:spcBef>
              <a:spcAft>
                <a:spcPts val="0"/>
              </a:spcAft>
              <a:buNone/>
            </a:pPr>
            <a:r>
              <a:rPr b="1" i="0" lang="en-US" sz="2687" u="none" cap="none" strike="noStrike">
                <a:solidFill>
                  <a:srgbClr val="3D5E89"/>
                </a:solidFill>
                <a:latin typeface="League Spartan"/>
                <a:ea typeface="League Spartan"/>
                <a:cs typeface="League Spartan"/>
                <a:sym typeface="League Spartan"/>
              </a:rPr>
              <a:t>Desarrollar e implementar una plataforma web junto con una aplicación móvil conectadas entre sí, orientadas a digitalizar el proceso de ventas de Divino Bizcochito. La solución incluirá un catálogo en línea, opciones de pedidos personalizados y seguimiento de entregas, además de un panel administrativo para gestionar de forma centralizada clientes, productos y transacciones. El sistema deberá garantizar seguridad, escalabilidad y diseño responsivo, brindando una experiencia de usuario clara, simple e intuitiva.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138" name="Shape 138"/>
        <p:cNvGrpSpPr/>
        <p:nvPr/>
      </p:nvGrpSpPr>
      <p:grpSpPr>
        <a:xfrm>
          <a:off x="0" y="0"/>
          <a:ext cx="0" cy="0"/>
          <a:chOff x="0" y="0"/>
          <a:chExt cx="0" cy="0"/>
        </a:xfrm>
      </p:grpSpPr>
      <p:sp>
        <p:nvSpPr>
          <p:cNvPr id="139" name="Google Shape;139;p6"/>
          <p:cNvSpPr txBox="1"/>
          <p:nvPr/>
        </p:nvSpPr>
        <p:spPr>
          <a:xfrm>
            <a:off x="2902675" y="2554455"/>
            <a:ext cx="3607172" cy="708883"/>
          </a:xfrm>
          <a:prstGeom prst="rect">
            <a:avLst/>
          </a:prstGeom>
          <a:noFill/>
          <a:ln>
            <a:noFill/>
          </a:ln>
        </p:spPr>
        <p:txBody>
          <a:bodyPr anchorCtr="0" anchor="t" bIns="0" lIns="0" spcFirstLastPara="1" rIns="0" wrap="square" tIns="0">
            <a:spAutoFit/>
          </a:bodyPr>
          <a:lstStyle/>
          <a:p>
            <a:pPr indent="0" lvl="0" marL="0" marR="0" rtl="0" algn="ctr">
              <a:lnSpc>
                <a:spcPct val="129995"/>
              </a:lnSpc>
              <a:spcBef>
                <a:spcPts val="0"/>
              </a:spcBef>
              <a:spcAft>
                <a:spcPts val="0"/>
              </a:spcAft>
              <a:buNone/>
            </a:pPr>
            <a:r>
              <a:rPr b="1" i="0" lang="en-US" sz="2167" u="none" cap="none" strike="noStrike">
                <a:solidFill>
                  <a:srgbClr val="3D5E89"/>
                </a:solidFill>
                <a:latin typeface="League Spartan"/>
                <a:ea typeface="League Spartan"/>
                <a:cs typeface="League Spartan"/>
                <a:sym typeface="League Spartan"/>
              </a:rPr>
              <a:t>Digitalizar el modelo de ventas</a:t>
            </a:r>
            <a:endParaRPr/>
          </a:p>
        </p:txBody>
      </p:sp>
      <p:sp>
        <p:nvSpPr>
          <p:cNvPr id="140" name="Google Shape;140;p6"/>
          <p:cNvSpPr txBox="1"/>
          <p:nvPr/>
        </p:nvSpPr>
        <p:spPr>
          <a:xfrm>
            <a:off x="2101235" y="3416893"/>
            <a:ext cx="5210053" cy="1118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3D5E89"/>
                </a:solidFill>
                <a:latin typeface="Raleway"/>
                <a:ea typeface="Raleway"/>
                <a:cs typeface="Raleway"/>
                <a:sym typeface="Raleway"/>
              </a:rPr>
              <a:t>Implementar una plataforma web y móvil que centralice la oferta de productos, pedidos y pagos.</a:t>
            </a:r>
            <a:endParaRPr/>
          </a:p>
        </p:txBody>
      </p:sp>
      <p:sp>
        <p:nvSpPr>
          <p:cNvPr id="141" name="Google Shape;141;p6"/>
          <p:cNvSpPr/>
          <p:nvPr/>
        </p:nvSpPr>
        <p:spPr>
          <a:xfrm rot="-10738371">
            <a:off x="-1461143" y="934900"/>
            <a:ext cx="3415397" cy="4399223"/>
          </a:xfrm>
          <a:custGeom>
            <a:rect b="b" l="l" r="r" t="t"/>
            <a:pathLst>
              <a:path extrusionOk="0" h="4399223" w="3415397">
                <a:moveTo>
                  <a:pt x="0" y="0"/>
                </a:moveTo>
                <a:lnTo>
                  <a:pt x="3415397" y="0"/>
                </a:lnTo>
                <a:lnTo>
                  <a:pt x="3415397" y="4399223"/>
                </a:lnTo>
                <a:lnTo>
                  <a:pt x="0" y="4399223"/>
                </a:lnTo>
                <a:lnTo>
                  <a:pt x="0" y="0"/>
                </a:lnTo>
                <a:close/>
              </a:path>
            </a:pathLst>
          </a:custGeom>
          <a:blipFill rotWithShape="1">
            <a:blip r:embed="rId3">
              <a:alphaModFix/>
            </a:blip>
            <a:stretch>
              <a:fillRect b="0" l="0" r="0" t="0"/>
            </a:stretch>
          </a:blipFill>
          <a:ln>
            <a:noFill/>
          </a:ln>
        </p:spPr>
      </p:sp>
      <p:sp>
        <p:nvSpPr>
          <p:cNvPr id="142" name="Google Shape;142;p6"/>
          <p:cNvSpPr/>
          <p:nvPr/>
        </p:nvSpPr>
        <p:spPr>
          <a:xfrm rot="10800000">
            <a:off x="-342046" y="-460220"/>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143" name="Google Shape;143;p6"/>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144" name="Google Shape;144;p6"/>
          <p:cNvSpPr txBox="1"/>
          <p:nvPr/>
        </p:nvSpPr>
        <p:spPr>
          <a:xfrm>
            <a:off x="1115959" y="500062"/>
            <a:ext cx="16230600" cy="1057275"/>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i="0" lang="en-US" sz="6999" u="none" cap="none" strike="noStrike">
                <a:solidFill>
                  <a:srgbClr val="3D5E89"/>
                </a:solidFill>
                <a:latin typeface="League Spartan"/>
                <a:ea typeface="League Spartan"/>
                <a:cs typeface="League Spartan"/>
                <a:sym typeface="League Spartan"/>
              </a:rPr>
              <a:t>Objetivos especificos</a:t>
            </a:r>
            <a:endParaRPr/>
          </a:p>
        </p:txBody>
      </p:sp>
      <p:sp>
        <p:nvSpPr>
          <p:cNvPr id="145" name="Google Shape;145;p6"/>
          <p:cNvSpPr txBox="1"/>
          <p:nvPr/>
        </p:nvSpPr>
        <p:spPr>
          <a:xfrm>
            <a:off x="10270035" y="2555610"/>
            <a:ext cx="4743162" cy="708883"/>
          </a:xfrm>
          <a:prstGeom prst="rect">
            <a:avLst/>
          </a:prstGeom>
          <a:noFill/>
          <a:ln>
            <a:noFill/>
          </a:ln>
        </p:spPr>
        <p:txBody>
          <a:bodyPr anchorCtr="0" anchor="t" bIns="0" lIns="0" spcFirstLastPara="1" rIns="0" wrap="square" tIns="0">
            <a:spAutoFit/>
          </a:bodyPr>
          <a:lstStyle/>
          <a:p>
            <a:pPr indent="0" lvl="0" marL="0" marR="0" rtl="0" algn="ctr">
              <a:lnSpc>
                <a:spcPct val="129995"/>
              </a:lnSpc>
              <a:spcBef>
                <a:spcPts val="0"/>
              </a:spcBef>
              <a:spcAft>
                <a:spcPts val="0"/>
              </a:spcAft>
              <a:buNone/>
            </a:pPr>
            <a:r>
              <a:rPr b="1" i="0" lang="en-US" sz="2167" u="none" cap="none" strike="noStrike">
                <a:solidFill>
                  <a:srgbClr val="3D5E89"/>
                </a:solidFill>
                <a:latin typeface="League Spartan"/>
                <a:ea typeface="League Spartan"/>
                <a:cs typeface="League Spartan"/>
                <a:sym typeface="League Spartan"/>
              </a:rPr>
              <a:t>Ofrecer una experiencia de compra más cómoda y atractiva</a:t>
            </a:r>
            <a:endParaRPr/>
          </a:p>
        </p:txBody>
      </p:sp>
      <p:sp>
        <p:nvSpPr>
          <p:cNvPr id="146" name="Google Shape;146;p6"/>
          <p:cNvSpPr txBox="1"/>
          <p:nvPr/>
        </p:nvSpPr>
        <p:spPr>
          <a:xfrm>
            <a:off x="10036589" y="3416893"/>
            <a:ext cx="5210053" cy="14897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3D5E89"/>
                </a:solidFill>
                <a:latin typeface="Raleway"/>
                <a:ea typeface="Raleway"/>
                <a:cs typeface="Raleway"/>
                <a:sym typeface="Raleway"/>
              </a:rPr>
              <a:t>Permitir que los clientes realicen pedidos en línea, con catálogos interactivos, opciones de personalización y notificaciones de estado.</a:t>
            </a:r>
            <a:endParaRPr/>
          </a:p>
        </p:txBody>
      </p:sp>
      <p:sp>
        <p:nvSpPr>
          <p:cNvPr id="147" name="Google Shape;147;p6"/>
          <p:cNvSpPr txBox="1"/>
          <p:nvPr/>
        </p:nvSpPr>
        <p:spPr>
          <a:xfrm>
            <a:off x="2902675" y="5114925"/>
            <a:ext cx="3607172" cy="708883"/>
          </a:xfrm>
          <a:prstGeom prst="rect">
            <a:avLst/>
          </a:prstGeom>
          <a:noFill/>
          <a:ln>
            <a:noFill/>
          </a:ln>
        </p:spPr>
        <p:txBody>
          <a:bodyPr anchorCtr="0" anchor="t" bIns="0" lIns="0" spcFirstLastPara="1" rIns="0" wrap="square" tIns="0">
            <a:spAutoFit/>
          </a:bodyPr>
          <a:lstStyle/>
          <a:p>
            <a:pPr indent="0" lvl="0" marL="0" marR="0" rtl="0" algn="ctr">
              <a:lnSpc>
                <a:spcPct val="129995"/>
              </a:lnSpc>
              <a:spcBef>
                <a:spcPts val="0"/>
              </a:spcBef>
              <a:spcAft>
                <a:spcPts val="0"/>
              </a:spcAft>
              <a:buNone/>
            </a:pPr>
            <a:r>
              <a:rPr b="1" i="0" lang="en-US" sz="2167" u="none" cap="none" strike="noStrike">
                <a:solidFill>
                  <a:srgbClr val="3D5E89"/>
                </a:solidFill>
                <a:latin typeface="League Spartan"/>
                <a:ea typeface="League Spartan"/>
                <a:cs typeface="League Spartan"/>
                <a:sym typeface="League Spartan"/>
              </a:rPr>
              <a:t>Ampliar el alcance del negocio</a:t>
            </a:r>
            <a:endParaRPr/>
          </a:p>
        </p:txBody>
      </p:sp>
      <p:sp>
        <p:nvSpPr>
          <p:cNvPr id="148" name="Google Shape;148;p6"/>
          <p:cNvSpPr txBox="1"/>
          <p:nvPr/>
        </p:nvSpPr>
        <p:spPr>
          <a:xfrm>
            <a:off x="2101235" y="5977364"/>
            <a:ext cx="5210053" cy="1118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3D5E89"/>
                </a:solidFill>
                <a:latin typeface="Raleway"/>
                <a:ea typeface="Raleway"/>
                <a:cs typeface="Raleway"/>
                <a:sym typeface="Raleway"/>
              </a:rPr>
              <a:t>Llegar a más clientes potenciales fuera del entorno local mediante una presencia digital atractiva.</a:t>
            </a:r>
            <a:endParaRPr/>
          </a:p>
        </p:txBody>
      </p:sp>
      <p:sp>
        <p:nvSpPr>
          <p:cNvPr id="149" name="Google Shape;149;p6"/>
          <p:cNvSpPr txBox="1"/>
          <p:nvPr/>
        </p:nvSpPr>
        <p:spPr>
          <a:xfrm>
            <a:off x="10838030" y="5114925"/>
            <a:ext cx="3607172" cy="708883"/>
          </a:xfrm>
          <a:prstGeom prst="rect">
            <a:avLst/>
          </a:prstGeom>
          <a:noFill/>
          <a:ln>
            <a:noFill/>
          </a:ln>
        </p:spPr>
        <p:txBody>
          <a:bodyPr anchorCtr="0" anchor="t" bIns="0" lIns="0" spcFirstLastPara="1" rIns="0" wrap="square" tIns="0">
            <a:spAutoFit/>
          </a:bodyPr>
          <a:lstStyle/>
          <a:p>
            <a:pPr indent="0" lvl="0" marL="0" marR="0" rtl="0" algn="ctr">
              <a:lnSpc>
                <a:spcPct val="129995"/>
              </a:lnSpc>
              <a:spcBef>
                <a:spcPts val="0"/>
              </a:spcBef>
              <a:spcAft>
                <a:spcPts val="0"/>
              </a:spcAft>
              <a:buNone/>
            </a:pPr>
            <a:r>
              <a:rPr b="1" i="0" lang="en-US" sz="2167" u="none" cap="none" strike="noStrike">
                <a:solidFill>
                  <a:srgbClr val="3D5E89"/>
                </a:solidFill>
                <a:latin typeface="League Spartan"/>
                <a:ea typeface="League Spartan"/>
                <a:cs typeface="League Spartan"/>
                <a:sym typeface="League Spartan"/>
              </a:rPr>
              <a:t>Optimizar procesos internos</a:t>
            </a:r>
            <a:endParaRPr/>
          </a:p>
        </p:txBody>
      </p:sp>
      <p:sp>
        <p:nvSpPr>
          <p:cNvPr id="150" name="Google Shape;150;p6"/>
          <p:cNvSpPr txBox="1"/>
          <p:nvPr/>
        </p:nvSpPr>
        <p:spPr>
          <a:xfrm>
            <a:off x="10036589" y="5977364"/>
            <a:ext cx="5210053" cy="14897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3D5E89"/>
                </a:solidFill>
                <a:latin typeface="Raleway"/>
                <a:ea typeface="Raleway"/>
                <a:cs typeface="Raleway"/>
                <a:sym typeface="Raleway"/>
              </a:rPr>
              <a:t>Organizar mejor la producción y la logística gracias a un sistema digital que ordene pedidos, inventario y tiempos de entrega.</a:t>
            </a:r>
            <a:endParaRPr/>
          </a:p>
        </p:txBody>
      </p:sp>
      <p:sp>
        <p:nvSpPr>
          <p:cNvPr id="151" name="Google Shape;151;p6"/>
          <p:cNvSpPr txBox="1"/>
          <p:nvPr/>
        </p:nvSpPr>
        <p:spPr>
          <a:xfrm>
            <a:off x="2902675" y="7803029"/>
            <a:ext cx="3607172" cy="708883"/>
          </a:xfrm>
          <a:prstGeom prst="rect">
            <a:avLst/>
          </a:prstGeom>
          <a:noFill/>
          <a:ln>
            <a:noFill/>
          </a:ln>
        </p:spPr>
        <p:txBody>
          <a:bodyPr anchorCtr="0" anchor="t" bIns="0" lIns="0" spcFirstLastPara="1" rIns="0" wrap="square" tIns="0">
            <a:spAutoFit/>
          </a:bodyPr>
          <a:lstStyle/>
          <a:p>
            <a:pPr indent="0" lvl="0" marL="0" marR="0" rtl="0" algn="ctr">
              <a:lnSpc>
                <a:spcPct val="129995"/>
              </a:lnSpc>
              <a:spcBef>
                <a:spcPts val="0"/>
              </a:spcBef>
              <a:spcAft>
                <a:spcPts val="0"/>
              </a:spcAft>
              <a:buNone/>
            </a:pPr>
            <a:r>
              <a:rPr b="1" i="0" lang="en-US" sz="2167" u="none" cap="none" strike="noStrike">
                <a:solidFill>
                  <a:srgbClr val="3D5E89"/>
                </a:solidFill>
                <a:latin typeface="League Spartan"/>
                <a:ea typeface="League Spartan"/>
                <a:cs typeface="League Spartan"/>
                <a:sym typeface="League Spartan"/>
              </a:rPr>
              <a:t>Mejorar la gestión de pedidos</a:t>
            </a:r>
            <a:endParaRPr/>
          </a:p>
        </p:txBody>
      </p:sp>
      <p:sp>
        <p:nvSpPr>
          <p:cNvPr id="152" name="Google Shape;152;p6"/>
          <p:cNvSpPr txBox="1"/>
          <p:nvPr/>
        </p:nvSpPr>
        <p:spPr>
          <a:xfrm>
            <a:off x="2101235" y="8665468"/>
            <a:ext cx="5210053" cy="14897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3D5E89"/>
                </a:solidFill>
                <a:latin typeface="Raleway"/>
                <a:ea typeface="Raleway"/>
                <a:cs typeface="Raleway"/>
                <a:sym typeface="Raleway"/>
              </a:rPr>
              <a:t>Facilitar el registro, seguimiento y control de pedidos personalizados y estándar, reduciendo errores y tiempos de respuesta.</a:t>
            </a:r>
            <a:endParaRPr/>
          </a:p>
        </p:txBody>
      </p:sp>
      <p:sp>
        <p:nvSpPr>
          <p:cNvPr id="153" name="Google Shape;153;p6"/>
          <p:cNvSpPr txBox="1"/>
          <p:nvPr/>
        </p:nvSpPr>
        <p:spPr>
          <a:xfrm>
            <a:off x="10625032" y="7803029"/>
            <a:ext cx="4033168" cy="708883"/>
          </a:xfrm>
          <a:prstGeom prst="rect">
            <a:avLst/>
          </a:prstGeom>
          <a:noFill/>
          <a:ln>
            <a:noFill/>
          </a:ln>
        </p:spPr>
        <p:txBody>
          <a:bodyPr anchorCtr="0" anchor="t" bIns="0" lIns="0" spcFirstLastPara="1" rIns="0" wrap="square" tIns="0">
            <a:spAutoFit/>
          </a:bodyPr>
          <a:lstStyle/>
          <a:p>
            <a:pPr indent="0" lvl="0" marL="0" marR="0" rtl="0" algn="ctr">
              <a:lnSpc>
                <a:spcPct val="129995"/>
              </a:lnSpc>
              <a:spcBef>
                <a:spcPts val="0"/>
              </a:spcBef>
              <a:spcAft>
                <a:spcPts val="0"/>
              </a:spcAft>
              <a:buNone/>
            </a:pPr>
            <a:r>
              <a:rPr b="1" i="0" lang="en-US" sz="2167" u="none" cap="none" strike="noStrike">
                <a:solidFill>
                  <a:srgbClr val="3D5E89"/>
                </a:solidFill>
                <a:latin typeface="League Spartan"/>
                <a:ea typeface="League Spartan"/>
                <a:cs typeface="League Spartan"/>
                <a:sym typeface="League Spartan"/>
              </a:rPr>
              <a:t>Posicionarse en el mercado local con innovación</a:t>
            </a:r>
            <a:endParaRPr/>
          </a:p>
        </p:txBody>
      </p:sp>
      <p:sp>
        <p:nvSpPr>
          <p:cNvPr id="154" name="Google Shape;154;p6"/>
          <p:cNvSpPr txBox="1"/>
          <p:nvPr/>
        </p:nvSpPr>
        <p:spPr>
          <a:xfrm>
            <a:off x="10036589" y="8580433"/>
            <a:ext cx="5210053" cy="1118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3D5E89"/>
                </a:solidFill>
                <a:latin typeface="Raleway"/>
                <a:ea typeface="Raleway"/>
                <a:cs typeface="Raleway"/>
                <a:sym typeface="Raleway"/>
              </a:rPr>
              <a:t>Diferenciarse de otras pastelerías tradicionales mostrando una imagen más moderna y profesional.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158" name="Shape 158"/>
        <p:cNvGrpSpPr/>
        <p:nvPr/>
      </p:nvGrpSpPr>
      <p:grpSpPr>
        <a:xfrm>
          <a:off x="0" y="0"/>
          <a:ext cx="0" cy="0"/>
          <a:chOff x="0" y="0"/>
          <a:chExt cx="0" cy="0"/>
        </a:xfrm>
      </p:grpSpPr>
      <p:sp>
        <p:nvSpPr>
          <p:cNvPr id="159" name="Google Shape;159;p7"/>
          <p:cNvSpPr txBox="1"/>
          <p:nvPr/>
        </p:nvSpPr>
        <p:spPr>
          <a:xfrm>
            <a:off x="6464270" y="630238"/>
            <a:ext cx="4320541" cy="930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6999" u="none" cap="none" strike="noStrike">
                <a:solidFill>
                  <a:srgbClr val="3D5E89"/>
                </a:solidFill>
                <a:latin typeface="League Spartan"/>
                <a:ea typeface="League Spartan"/>
                <a:cs typeface="League Spartan"/>
                <a:sym typeface="League Spartan"/>
              </a:rPr>
              <a:t>Alcances</a:t>
            </a:r>
            <a:endParaRPr/>
          </a:p>
        </p:txBody>
      </p:sp>
      <p:sp>
        <p:nvSpPr>
          <p:cNvPr id="160" name="Google Shape;160;p7"/>
          <p:cNvSpPr/>
          <p:nvPr/>
        </p:nvSpPr>
        <p:spPr>
          <a:xfrm rot="5461628">
            <a:off x="1357892" y="8168529"/>
            <a:ext cx="3415397" cy="4399223"/>
          </a:xfrm>
          <a:custGeom>
            <a:rect b="b" l="l" r="r" t="t"/>
            <a:pathLst>
              <a:path extrusionOk="0" h="4399223" w="3415397">
                <a:moveTo>
                  <a:pt x="0" y="0"/>
                </a:moveTo>
                <a:lnTo>
                  <a:pt x="3415397" y="0"/>
                </a:lnTo>
                <a:lnTo>
                  <a:pt x="3415397" y="4399223"/>
                </a:lnTo>
                <a:lnTo>
                  <a:pt x="0" y="4399223"/>
                </a:lnTo>
                <a:lnTo>
                  <a:pt x="0" y="0"/>
                </a:lnTo>
                <a:close/>
              </a:path>
            </a:pathLst>
          </a:custGeom>
          <a:blipFill rotWithShape="1">
            <a:blip r:embed="rId3">
              <a:alphaModFix/>
            </a:blip>
            <a:stretch>
              <a:fillRect b="0" l="0" r="0" t="0"/>
            </a:stretch>
          </a:blipFill>
          <a:ln>
            <a:noFill/>
          </a:ln>
        </p:spPr>
      </p:sp>
      <p:sp>
        <p:nvSpPr>
          <p:cNvPr id="161" name="Google Shape;161;p7"/>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162" name="Google Shape;162;p7"/>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163" name="Google Shape;163;p7"/>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164" name="Google Shape;164;p7"/>
          <p:cNvSpPr txBox="1"/>
          <p:nvPr/>
        </p:nvSpPr>
        <p:spPr>
          <a:xfrm>
            <a:off x="637100" y="1757011"/>
            <a:ext cx="5713873" cy="5402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057" u="none" cap="none" strike="noStrike">
                <a:solidFill>
                  <a:srgbClr val="3D5E89"/>
                </a:solidFill>
                <a:latin typeface="League Spartan"/>
                <a:ea typeface="League Spartan"/>
                <a:cs typeface="League Spartan"/>
                <a:sym typeface="League Spartan"/>
              </a:rPr>
              <a:t>Que hace el sistema:</a:t>
            </a:r>
            <a:endParaRPr/>
          </a:p>
        </p:txBody>
      </p:sp>
      <p:sp>
        <p:nvSpPr>
          <p:cNvPr id="165" name="Google Shape;165;p7"/>
          <p:cNvSpPr txBox="1"/>
          <p:nvPr/>
        </p:nvSpPr>
        <p:spPr>
          <a:xfrm>
            <a:off x="637100" y="2269321"/>
            <a:ext cx="16301245" cy="2082720"/>
          </a:xfrm>
          <a:prstGeom prst="rect">
            <a:avLst/>
          </a:prstGeom>
          <a:noFill/>
          <a:ln>
            <a:noFill/>
          </a:ln>
        </p:spPr>
        <p:txBody>
          <a:bodyPr anchorCtr="0" anchor="t" bIns="0" lIns="0" spcFirstLastPara="1" rIns="0" wrap="square" tIns="0">
            <a:spAutoFit/>
          </a:bodyPr>
          <a:lstStyle/>
          <a:p>
            <a:pPr indent="0" lvl="0" marL="0" marR="0" rtl="0" algn="l">
              <a:lnSpc>
                <a:spcPct val="128036"/>
              </a:lnSpc>
              <a:spcBef>
                <a:spcPts val="0"/>
              </a:spcBef>
              <a:spcAft>
                <a:spcPts val="0"/>
              </a:spcAft>
              <a:buNone/>
            </a:pPr>
            <a:r>
              <a:rPr b="0" i="0" lang="en-US" sz="2272" u="none" cap="none" strike="noStrike">
                <a:solidFill>
                  <a:srgbClr val="3D5E89"/>
                </a:solidFill>
                <a:latin typeface="Raleway"/>
                <a:ea typeface="Raleway"/>
                <a:cs typeface="Raleway"/>
                <a:sym typeface="Raleway"/>
              </a:rPr>
              <a:t>El sistema permite a los clientes visualizar un catálogo digital de productos, realizar pedidos personalizados, registrarse e iniciar sesión para gestionar sus compras y hacer seguimiento en tiempo real del estado de sus pedidos. Incluye pagos en línea, comunicación con la empresa y una aplicación móvil con funciones similares, además de un panel administrativo que centraliza la gestión de pedidos, la planificación de entregas y la generación de reportes básicos.</a:t>
            </a:r>
            <a:endParaRPr/>
          </a:p>
          <a:p>
            <a:pPr indent="0" lvl="0" marL="0" marR="0" rtl="0" algn="l">
              <a:lnSpc>
                <a:spcPct val="100000"/>
              </a:lnSpc>
              <a:spcBef>
                <a:spcPts val="0"/>
              </a:spcBef>
              <a:spcAft>
                <a:spcPts val="0"/>
              </a:spcAft>
              <a:buNone/>
            </a:pPr>
            <a:r>
              <a:t/>
            </a:r>
            <a:endParaRPr b="0" i="0" sz="2272" u="none" cap="none" strike="noStrike">
              <a:solidFill>
                <a:srgbClr val="3D5E89"/>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272" u="none" cap="none" strike="noStrike">
              <a:solidFill>
                <a:srgbClr val="3D5E89"/>
              </a:solidFill>
              <a:latin typeface="Raleway"/>
              <a:ea typeface="Raleway"/>
              <a:cs typeface="Raleway"/>
              <a:sym typeface="Raleway"/>
            </a:endParaRPr>
          </a:p>
        </p:txBody>
      </p:sp>
      <p:sp>
        <p:nvSpPr>
          <p:cNvPr id="166" name="Google Shape;166;p7"/>
          <p:cNvSpPr txBox="1"/>
          <p:nvPr/>
        </p:nvSpPr>
        <p:spPr>
          <a:xfrm>
            <a:off x="637100" y="4120534"/>
            <a:ext cx="5492987" cy="5402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057" u="none" cap="none" strike="noStrike">
                <a:solidFill>
                  <a:srgbClr val="3D5E89"/>
                </a:solidFill>
                <a:latin typeface="League Spartan"/>
                <a:ea typeface="League Spartan"/>
                <a:cs typeface="League Spartan"/>
                <a:sym typeface="League Spartan"/>
              </a:rPr>
              <a:t>Que no hace:</a:t>
            </a:r>
            <a:endParaRPr/>
          </a:p>
        </p:txBody>
      </p:sp>
      <p:sp>
        <p:nvSpPr>
          <p:cNvPr id="167" name="Google Shape;167;p7"/>
          <p:cNvSpPr txBox="1"/>
          <p:nvPr/>
        </p:nvSpPr>
        <p:spPr>
          <a:xfrm>
            <a:off x="637100" y="4973717"/>
            <a:ext cx="16301245" cy="58994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72" u="none" cap="none" strike="noStrike">
                <a:solidFill>
                  <a:srgbClr val="3D5E89"/>
                </a:solidFill>
                <a:latin typeface="Raleway"/>
                <a:ea typeface="Raleway"/>
                <a:cs typeface="Raleway"/>
                <a:sym typeface="Raleway"/>
              </a:rPr>
              <a:t>El sistema no gestiona inventarios o contabilidad avanzada ni contempla la administración de múltiples sucursales, limitándose a las funcionalidades esenciales de venta, gestión y comunicación dentro del entorno digital.</a:t>
            </a:r>
            <a:endParaRPr/>
          </a:p>
        </p:txBody>
      </p:sp>
      <p:sp>
        <p:nvSpPr>
          <p:cNvPr id="168" name="Google Shape;168;p7"/>
          <p:cNvSpPr txBox="1"/>
          <p:nvPr/>
        </p:nvSpPr>
        <p:spPr>
          <a:xfrm>
            <a:off x="637100" y="6042812"/>
            <a:ext cx="8301405" cy="5402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057" u="none" cap="none" strike="noStrike">
                <a:solidFill>
                  <a:srgbClr val="3D5E89"/>
                </a:solidFill>
                <a:latin typeface="League Spartan"/>
                <a:ea typeface="League Spartan"/>
                <a:cs typeface="League Spartan"/>
                <a:sym typeface="League Spartan"/>
              </a:rPr>
              <a:t>Otros alcances o restricciones:</a:t>
            </a:r>
            <a:endParaRPr/>
          </a:p>
        </p:txBody>
      </p:sp>
      <p:sp>
        <p:nvSpPr>
          <p:cNvPr id="169" name="Google Shape;169;p7"/>
          <p:cNvSpPr txBox="1"/>
          <p:nvPr/>
        </p:nvSpPr>
        <p:spPr>
          <a:xfrm>
            <a:off x="637100" y="6802288"/>
            <a:ext cx="9579974" cy="3047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72" u="none" cap="none" strike="noStrike">
                <a:solidFill>
                  <a:srgbClr val="3D5E89"/>
                </a:solidFill>
                <a:latin typeface="Raleway"/>
                <a:ea typeface="Raleway"/>
                <a:cs typeface="Raleway"/>
                <a:sym typeface="Raleway"/>
              </a:rPr>
              <a:t>El mantenimiento queda bajo responsabilidad del equipo del proyecto.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173" name="Shape 173"/>
        <p:cNvGrpSpPr/>
        <p:nvPr/>
      </p:nvGrpSpPr>
      <p:grpSpPr>
        <a:xfrm>
          <a:off x="0" y="0"/>
          <a:ext cx="0" cy="0"/>
          <a:chOff x="0" y="0"/>
          <a:chExt cx="0" cy="0"/>
        </a:xfrm>
      </p:grpSpPr>
      <p:sp>
        <p:nvSpPr>
          <p:cNvPr id="174" name="Google Shape;174;p8"/>
          <p:cNvSpPr/>
          <p:nvPr/>
        </p:nvSpPr>
        <p:spPr>
          <a:xfrm rot="10800000">
            <a:off x="-588288" y="-1381495"/>
            <a:ext cx="4114800" cy="4114800"/>
          </a:xfrm>
          <a:custGeom>
            <a:rect b="b" l="l" r="r" t="t"/>
            <a:pathLst>
              <a:path extrusionOk="0" h="4114800" w="4114800">
                <a:moveTo>
                  <a:pt x="4114800" y="4114800"/>
                </a:moveTo>
                <a:lnTo>
                  <a:pt x="0" y="4114800"/>
                </a:lnTo>
                <a:lnTo>
                  <a:pt x="0" y="0"/>
                </a:lnTo>
                <a:lnTo>
                  <a:pt x="4114800" y="0"/>
                </a:lnTo>
                <a:lnTo>
                  <a:pt x="4114800" y="4114800"/>
                </a:lnTo>
                <a:close/>
              </a:path>
            </a:pathLst>
          </a:custGeom>
          <a:blipFill rotWithShape="1">
            <a:blip r:embed="rId3">
              <a:alphaModFix/>
            </a:blip>
            <a:stretch>
              <a:fillRect b="0" l="0" r="0" t="0"/>
            </a:stretch>
          </a:blipFill>
          <a:ln>
            <a:noFill/>
          </a:ln>
        </p:spPr>
      </p:sp>
      <p:sp>
        <p:nvSpPr>
          <p:cNvPr id="175" name="Google Shape;175;p8"/>
          <p:cNvSpPr/>
          <p:nvPr/>
        </p:nvSpPr>
        <p:spPr>
          <a:xfrm>
            <a:off x="15201900" y="82296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176" name="Google Shape;176;p8"/>
          <p:cNvSpPr/>
          <p:nvPr/>
        </p:nvSpPr>
        <p:spPr>
          <a:xfrm>
            <a:off x="1028700" y="3065497"/>
            <a:ext cx="7475623" cy="6192803"/>
          </a:xfrm>
          <a:custGeom>
            <a:rect b="b" l="l" r="r" t="t"/>
            <a:pathLst>
              <a:path extrusionOk="0" h="6192803" w="7475623">
                <a:moveTo>
                  <a:pt x="0" y="0"/>
                </a:moveTo>
                <a:lnTo>
                  <a:pt x="7475623" y="0"/>
                </a:lnTo>
                <a:lnTo>
                  <a:pt x="7475623" y="6192803"/>
                </a:lnTo>
                <a:lnTo>
                  <a:pt x="0" y="6192803"/>
                </a:lnTo>
                <a:lnTo>
                  <a:pt x="0" y="0"/>
                </a:lnTo>
                <a:close/>
              </a:path>
            </a:pathLst>
          </a:custGeom>
          <a:blipFill rotWithShape="1">
            <a:blip r:embed="rId4">
              <a:alphaModFix/>
            </a:blip>
            <a:stretch>
              <a:fillRect b="0" l="0" r="-30203" t="0"/>
            </a:stretch>
          </a:blipFill>
          <a:ln>
            <a:noFill/>
          </a:ln>
        </p:spPr>
      </p:sp>
      <p:sp>
        <p:nvSpPr>
          <p:cNvPr id="177" name="Google Shape;177;p8"/>
          <p:cNvSpPr/>
          <p:nvPr/>
        </p:nvSpPr>
        <p:spPr>
          <a:xfrm>
            <a:off x="9144000" y="3065497"/>
            <a:ext cx="7774529" cy="5164103"/>
          </a:xfrm>
          <a:custGeom>
            <a:rect b="b" l="l" r="r" t="t"/>
            <a:pathLst>
              <a:path extrusionOk="0" h="5164103" w="7774529">
                <a:moveTo>
                  <a:pt x="0" y="0"/>
                </a:moveTo>
                <a:lnTo>
                  <a:pt x="7774529" y="0"/>
                </a:lnTo>
                <a:lnTo>
                  <a:pt x="7774529" y="5164103"/>
                </a:lnTo>
                <a:lnTo>
                  <a:pt x="0" y="5164103"/>
                </a:lnTo>
                <a:lnTo>
                  <a:pt x="0" y="0"/>
                </a:lnTo>
                <a:close/>
              </a:path>
            </a:pathLst>
          </a:custGeom>
          <a:blipFill rotWithShape="1">
            <a:blip r:embed="rId5">
              <a:alphaModFix/>
            </a:blip>
            <a:stretch>
              <a:fillRect b="0" l="0" r="0" t="0"/>
            </a:stretch>
          </a:blipFill>
          <a:ln>
            <a:noFill/>
          </a:ln>
        </p:spPr>
      </p:sp>
      <p:sp>
        <p:nvSpPr>
          <p:cNvPr id="178" name="Google Shape;178;p8"/>
          <p:cNvSpPr txBox="1"/>
          <p:nvPr/>
        </p:nvSpPr>
        <p:spPr>
          <a:xfrm>
            <a:off x="3971148" y="537995"/>
            <a:ext cx="10345705" cy="19431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Lista de Requerimientos</a:t>
            </a:r>
            <a:endParaRPr/>
          </a:p>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Funcionales Web</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182" name="Shape 182"/>
        <p:cNvGrpSpPr/>
        <p:nvPr/>
      </p:nvGrpSpPr>
      <p:grpSpPr>
        <a:xfrm>
          <a:off x="0" y="0"/>
          <a:ext cx="0" cy="0"/>
          <a:chOff x="0" y="0"/>
          <a:chExt cx="0" cy="0"/>
        </a:xfrm>
      </p:grpSpPr>
      <p:sp>
        <p:nvSpPr>
          <p:cNvPr id="183" name="Google Shape;183;p9"/>
          <p:cNvSpPr/>
          <p:nvPr/>
        </p:nvSpPr>
        <p:spPr>
          <a:xfrm rot="10800000">
            <a:off x="-588288" y="-1381495"/>
            <a:ext cx="4114800" cy="4114800"/>
          </a:xfrm>
          <a:custGeom>
            <a:rect b="b" l="l" r="r" t="t"/>
            <a:pathLst>
              <a:path extrusionOk="0" h="4114800" w="4114800">
                <a:moveTo>
                  <a:pt x="4114800" y="4114800"/>
                </a:moveTo>
                <a:lnTo>
                  <a:pt x="0" y="4114800"/>
                </a:lnTo>
                <a:lnTo>
                  <a:pt x="0" y="0"/>
                </a:lnTo>
                <a:lnTo>
                  <a:pt x="4114800" y="0"/>
                </a:lnTo>
                <a:lnTo>
                  <a:pt x="4114800" y="4114800"/>
                </a:lnTo>
                <a:close/>
              </a:path>
            </a:pathLst>
          </a:custGeom>
          <a:blipFill rotWithShape="1">
            <a:blip r:embed="rId3">
              <a:alphaModFix/>
            </a:blip>
            <a:stretch>
              <a:fillRect b="0" l="0" r="0" t="0"/>
            </a:stretch>
          </a:blipFill>
          <a:ln>
            <a:noFill/>
          </a:ln>
        </p:spPr>
      </p:sp>
      <p:sp>
        <p:nvSpPr>
          <p:cNvPr id="184" name="Google Shape;184;p9"/>
          <p:cNvSpPr/>
          <p:nvPr/>
        </p:nvSpPr>
        <p:spPr>
          <a:xfrm>
            <a:off x="15201900" y="82296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185" name="Google Shape;185;p9"/>
          <p:cNvSpPr/>
          <p:nvPr/>
        </p:nvSpPr>
        <p:spPr>
          <a:xfrm>
            <a:off x="2921242" y="3320432"/>
            <a:ext cx="12445516" cy="5685970"/>
          </a:xfrm>
          <a:custGeom>
            <a:rect b="b" l="l" r="r" t="t"/>
            <a:pathLst>
              <a:path extrusionOk="0" h="5685970" w="12445516">
                <a:moveTo>
                  <a:pt x="0" y="0"/>
                </a:moveTo>
                <a:lnTo>
                  <a:pt x="12445516" y="0"/>
                </a:lnTo>
                <a:lnTo>
                  <a:pt x="12445516" y="5685970"/>
                </a:lnTo>
                <a:lnTo>
                  <a:pt x="0" y="5685970"/>
                </a:lnTo>
                <a:lnTo>
                  <a:pt x="0" y="0"/>
                </a:lnTo>
                <a:close/>
              </a:path>
            </a:pathLst>
          </a:custGeom>
          <a:blipFill rotWithShape="1">
            <a:blip r:embed="rId4">
              <a:alphaModFix/>
            </a:blip>
            <a:stretch>
              <a:fillRect b="0" l="0" r="0" t="0"/>
            </a:stretch>
          </a:blipFill>
          <a:ln>
            <a:noFill/>
          </a:ln>
        </p:spPr>
      </p:sp>
      <p:sp>
        <p:nvSpPr>
          <p:cNvPr id="186" name="Google Shape;186;p9"/>
          <p:cNvSpPr txBox="1"/>
          <p:nvPr/>
        </p:nvSpPr>
        <p:spPr>
          <a:xfrm>
            <a:off x="3971148" y="537995"/>
            <a:ext cx="10345705" cy="19431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Lista de Requerimientos</a:t>
            </a:r>
            <a:endParaRPr/>
          </a:p>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No Funcionales Web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190" name="Shape 190"/>
        <p:cNvGrpSpPr/>
        <p:nvPr/>
      </p:nvGrpSpPr>
      <p:grpSpPr>
        <a:xfrm>
          <a:off x="0" y="0"/>
          <a:ext cx="0" cy="0"/>
          <a:chOff x="0" y="0"/>
          <a:chExt cx="0" cy="0"/>
        </a:xfrm>
      </p:grpSpPr>
      <p:sp>
        <p:nvSpPr>
          <p:cNvPr id="191" name="Google Shape;191;p10"/>
          <p:cNvSpPr/>
          <p:nvPr/>
        </p:nvSpPr>
        <p:spPr>
          <a:xfrm rot="10800000">
            <a:off x="-588288" y="-1381495"/>
            <a:ext cx="4114800" cy="4114800"/>
          </a:xfrm>
          <a:custGeom>
            <a:rect b="b" l="l" r="r" t="t"/>
            <a:pathLst>
              <a:path extrusionOk="0" h="4114800" w="4114800">
                <a:moveTo>
                  <a:pt x="4114800" y="4114800"/>
                </a:moveTo>
                <a:lnTo>
                  <a:pt x="0" y="4114800"/>
                </a:lnTo>
                <a:lnTo>
                  <a:pt x="0" y="0"/>
                </a:lnTo>
                <a:lnTo>
                  <a:pt x="4114800" y="0"/>
                </a:lnTo>
                <a:lnTo>
                  <a:pt x="4114800" y="4114800"/>
                </a:lnTo>
                <a:close/>
              </a:path>
            </a:pathLst>
          </a:custGeom>
          <a:blipFill rotWithShape="1">
            <a:blip r:embed="rId3">
              <a:alphaModFix/>
            </a:blip>
            <a:stretch>
              <a:fillRect b="0" l="0" r="0" t="0"/>
            </a:stretch>
          </a:blipFill>
          <a:ln>
            <a:noFill/>
          </a:ln>
        </p:spPr>
      </p:sp>
      <p:sp>
        <p:nvSpPr>
          <p:cNvPr id="192" name="Google Shape;192;p10"/>
          <p:cNvSpPr/>
          <p:nvPr/>
        </p:nvSpPr>
        <p:spPr>
          <a:xfrm>
            <a:off x="15201900" y="82296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193" name="Google Shape;193;p10"/>
          <p:cNvSpPr/>
          <p:nvPr/>
        </p:nvSpPr>
        <p:spPr>
          <a:xfrm>
            <a:off x="4547560" y="2733305"/>
            <a:ext cx="8711563" cy="7377048"/>
          </a:xfrm>
          <a:custGeom>
            <a:rect b="b" l="l" r="r" t="t"/>
            <a:pathLst>
              <a:path extrusionOk="0" h="7377048" w="8711563">
                <a:moveTo>
                  <a:pt x="0" y="0"/>
                </a:moveTo>
                <a:lnTo>
                  <a:pt x="8711563" y="0"/>
                </a:lnTo>
                <a:lnTo>
                  <a:pt x="8711563" y="7377048"/>
                </a:lnTo>
                <a:lnTo>
                  <a:pt x="0" y="7377048"/>
                </a:lnTo>
                <a:lnTo>
                  <a:pt x="0" y="0"/>
                </a:lnTo>
                <a:close/>
              </a:path>
            </a:pathLst>
          </a:custGeom>
          <a:blipFill rotWithShape="1">
            <a:blip r:embed="rId4">
              <a:alphaModFix/>
            </a:blip>
            <a:stretch>
              <a:fillRect b="0" l="0" r="-22061" t="0"/>
            </a:stretch>
          </a:blipFill>
          <a:ln>
            <a:noFill/>
          </a:ln>
        </p:spPr>
      </p:sp>
      <p:sp>
        <p:nvSpPr>
          <p:cNvPr id="194" name="Google Shape;194;p10"/>
          <p:cNvSpPr txBox="1"/>
          <p:nvPr/>
        </p:nvSpPr>
        <p:spPr>
          <a:xfrm>
            <a:off x="3971148" y="537995"/>
            <a:ext cx="10345705" cy="19431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Lista de Requerimientos</a:t>
            </a:r>
            <a:endParaRPr/>
          </a:p>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Funcionales App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198" name="Shape 198"/>
        <p:cNvGrpSpPr/>
        <p:nvPr/>
      </p:nvGrpSpPr>
      <p:grpSpPr>
        <a:xfrm>
          <a:off x="0" y="0"/>
          <a:ext cx="0" cy="0"/>
          <a:chOff x="0" y="0"/>
          <a:chExt cx="0" cy="0"/>
        </a:xfrm>
      </p:grpSpPr>
      <p:sp>
        <p:nvSpPr>
          <p:cNvPr id="199" name="Google Shape;199;p11"/>
          <p:cNvSpPr/>
          <p:nvPr/>
        </p:nvSpPr>
        <p:spPr>
          <a:xfrm rot="10800000">
            <a:off x="-588288" y="-1381495"/>
            <a:ext cx="4114800" cy="4114800"/>
          </a:xfrm>
          <a:custGeom>
            <a:rect b="b" l="l" r="r" t="t"/>
            <a:pathLst>
              <a:path extrusionOk="0" h="4114800" w="4114800">
                <a:moveTo>
                  <a:pt x="4114800" y="4114800"/>
                </a:moveTo>
                <a:lnTo>
                  <a:pt x="0" y="4114800"/>
                </a:lnTo>
                <a:lnTo>
                  <a:pt x="0" y="0"/>
                </a:lnTo>
                <a:lnTo>
                  <a:pt x="4114800" y="0"/>
                </a:lnTo>
                <a:lnTo>
                  <a:pt x="4114800" y="4114800"/>
                </a:lnTo>
                <a:close/>
              </a:path>
            </a:pathLst>
          </a:custGeom>
          <a:blipFill rotWithShape="1">
            <a:blip r:embed="rId3">
              <a:alphaModFix/>
            </a:blip>
            <a:stretch>
              <a:fillRect b="0" l="0" r="0" t="0"/>
            </a:stretch>
          </a:blipFill>
          <a:ln>
            <a:noFill/>
          </a:ln>
        </p:spPr>
      </p:sp>
      <p:sp>
        <p:nvSpPr>
          <p:cNvPr id="200" name="Google Shape;200;p11"/>
          <p:cNvSpPr/>
          <p:nvPr/>
        </p:nvSpPr>
        <p:spPr>
          <a:xfrm>
            <a:off x="15201900" y="822960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201" name="Google Shape;201;p11"/>
          <p:cNvSpPr/>
          <p:nvPr/>
        </p:nvSpPr>
        <p:spPr>
          <a:xfrm>
            <a:off x="2916559" y="3247712"/>
            <a:ext cx="12454882" cy="5335356"/>
          </a:xfrm>
          <a:custGeom>
            <a:rect b="b" l="l" r="r" t="t"/>
            <a:pathLst>
              <a:path extrusionOk="0" h="5335356" w="12454882">
                <a:moveTo>
                  <a:pt x="0" y="0"/>
                </a:moveTo>
                <a:lnTo>
                  <a:pt x="12454882" y="0"/>
                </a:lnTo>
                <a:lnTo>
                  <a:pt x="12454882" y="5335356"/>
                </a:lnTo>
                <a:lnTo>
                  <a:pt x="0" y="5335356"/>
                </a:lnTo>
                <a:lnTo>
                  <a:pt x="0" y="0"/>
                </a:lnTo>
                <a:close/>
              </a:path>
            </a:pathLst>
          </a:custGeom>
          <a:blipFill rotWithShape="1">
            <a:blip r:embed="rId4">
              <a:alphaModFix/>
            </a:blip>
            <a:stretch>
              <a:fillRect b="0" l="0" r="0" t="0"/>
            </a:stretch>
          </a:blipFill>
          <a:ln>
            <a:noFill/>
          </a:ln>
        </p:spPr>
      </p:sp>
      <p:sp>
        <p:nvSpPr>
          <p:cNvPr id="202" name="Google Shape;202;p11"/>
          <p:cNvSpPr txBox="1"/>
          <p:nvPr/>
        </p:nvSpPr>
        <p:spPr>
          <a:xfrm>
            <a:off x="3971148" y="537995"/>
            <a:ext cx="10345705" cy="19431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Lista de Requerimientos</a:t>
            </a:r>
            <a:endParaRPr/>
          </a:p>
          <a:p>
            <a:pPr indent="0" lvl="0" marL="0" marR="0" rtl="0" algn="l">
              <a:lnSpc>
                <a:spcPct val="120003"/>
              </a:lnSpc>
              <a:spcBef>
                <a:spcPts val="0"/>
              </a:spcBef>
              <a:spcAft>
                <a:spcPts val="0"/>
              </a:spcAft>
              <a:buNone/>
            </a:pPr>
            <a:r>
              <a:rPr b="1" i="0" lang="en-US" sz="6399" u="none" cap="none" strike="noStrike">
                <a:solidFill>
                  <a:srgbClr val="3D5E89"/>
                </a:solidFill>
                <a:latin typeface="League Spartan"/>
                <a:ea typeface="League Spartan"/>
                <a:cs typeface="League Spartan"/>
                <a:sym typeface="League Spartan"/>
              </a:rPr>
              <a:t>No Funcionales App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06" name="Shape 206"/>
        <p:cNvGrpSpPr/>
        <p:nvPr/>
      </p:nvGrpSpPr>
      <p:grpSpPr>
        <a:xfrm>
          <a:off x="0" y="0"/>
          <a:ext cx="0" cy="0"/>
          <a:chOff x="0" y="0"/>
          <a:chExt cx="0" cy="0"/>
        </a:xfrm>
      </p:grpSpPr>
      <p:sp>
        <p:nvSpPr>
          <p:cNvPr id="207" name="Google Shape;207;p12"/>
          <p:cNvSpPr/>
          <p:nvPr/>
        </p:nvSpPr>
        <p:spPr>
          <a:xfrm rot="5461628">
            <a:off x="1357892" y="8168529"/>
            <a:ext cx="3415397" cy="4399223"/>
          </a:xfrm>
          <a:custGeom>
            <a:rect b="b" l="l" r="r" t="t"/>
            <a:pathLst>
              <a:path extrusionOk="0" h="4399223" w="3415397">
                <a:moveTo>
                  <a:pt x="0" y="0"/>
                </a:moveTo>
                <a:lnTo>
                  <a:pt x="3415397" y="0"/>
                </a:lnTo>
                <a:lnTo>
                  <a:pt x="3415397" y="4399223"/>
                </a:lnTo>
                <a:lnTo>
                  <a:pt x="0" y="4399223"/>
                </a:lnTo>
                <a:lnTo>
                  <a:pt x="0" y="0"/>
                </a:lnTo>
                <a:close/>
              </a:path>
            </a:pathLst>
          </a:custGeom>
          <a:blipFill rotWithShape="1">
            <a:blip r:embed="rId3">
              <a:alphaModFix/>
            </a:blip>
            <a:stretch>
              <a:fillRect b="0" l="0" r="0" t="0"/>
            </a:stretch>
          </a:blipFill>
          <a:ln>
            <a:noFill/>
          </a:ln>
        </p:spPr>
      </p:sp>
      <p:sp>
        <p:nvSpPr>
          <p:cNvPr id="208" name="Google Shape;208;p12"/>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209" name="Google Shape;209;p12"/>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210" name="Google Shape;210;p12"/>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211" name="Google Shape;211;p12"/>
          <p:cNvSpPr/>
          <p:nvPr/>
        </p:nvSpPr>
        <p:spPr>
          <a:xfrm>
            <a:off x="1313751" y="1442810"/>
            <a:ext cx="14543721" cy="7835429"/>
          </a:xfrm>
          <a:custGeom>
            <a:rect b="b" l="l" r="r" t="t"/>
            <a:pathLst>
              <a:path extrusionOk="0" h="7835429" w="14543721">
                <a:moveTo>
                  <a:pt x="0" y="0"/>
                </a:moveTo>
                <a:lnTo>
                  <a:pt x="14543721" y="0"/>
                </a:lnTo>
                <a:lnTo>
                  <a:pt x="14543721" y="7835429"/>
                </a:lnTo>
                <a:lnTo>
                  <a:pt x="0" y="7835429"/>
                </a:lnTo>
                <a:lnTo>
                  <a:pt x="0" y="0"/>
                </a:lnTo>
                <a:close/>
              </a:path>
            </a:pathLst>
          </a:custGeom>
          <a:blipFill rotWithShape="1">
            <a:blip r:embed="rId7">
              <a:alphaModFix/>
            </a:blip>
            <a:stretch>
              <a:fillRect b="0" l="0" r="0" t="0"/>
            </a:stretch>
          </a:blipFill>
          <a:ln>
            <a:noFill/>
          </a:ln>
        </p:spPr>
      </p:sp>
      <p:sp>
        <p:nvSpPr>
          <p:cNvPr id="212" name="Google Shape;212;p12"/>
          <p:cNvSpPr txBox="1"/>
          <p:nvPr/>
        </p:nvSpPr>
        <p:spPr>
          <a:xfrm>
            <a:off x="3933744" y="582488"/>
            <a:ext cx="10054534" cy="7219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5441" u="none" cap="none" strike="noStrike">
                <a:solidFill>
                  <a:srgbClr val="3D5E89"/>
                </a:solidFill>
                <a:latin typeface="League Spartan"/>
                <a:ea typeface="League Spartan"/>
                <a:cs typeface="League Spartan"/>
                <a:sym typeface="League Spartan"/>
              </a:rPr>
              <a:t>Modelo de datos relacional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16" name="Shape 216"/>
        <p:cNvGrpSpPr/>
        <p:nvPr/>
      </p:nvGrpSpPr>
      <p:grpSpPr>
        <a:xfrm>
          <a:off x="0" y="0"/>
          <a:ext cx="0" cy="0"/>
          <a:chOff x="0" y="0"/>
          <a:chExt cx="0" cy="0"/>
        </a:xfrm>
      </p:grpSpPr>
      <p:sp>
        <p:nvSpPr>
          <p:cNvPr id="217" name="Google Shape;217;p13"/>
          <p:cNvSpPr/>
          <p:nvPr/>
        </p:nvSpPr>
        <p:spPr>
          <a:xfrm rot="5461628">
            <a:off x="1357892" y="8168529"/>
            <a:ext cx="3415397" cy="4399223"/>
          </a:xfrm>
          <a:custGeom>
            <a:rect b="b" l="l" r="r" t="t"/>
            <a:pathLst>
              <a:path extrusionOk="0" h="4399223" w="3415397">
                <a:moveTo>
                  <a:pt x="0" y="0"/>
                </a:moveTo>
                <a:lnTo>
                  <a:pt x="3415397" y="0"/>
                </a:lnTo>
                <a:lnTo>
                  <a:pt x="3415397" y="4399223"/>
                </a:lnTo>
                <a:lnTo>
                  <a:pt x="0" y="4399223"/>
                </a:lnTo>
                <a:lnTo>
                  <a:pt x="0" y="0"/>
                </a:lnTo>
                <a:close/>
              </a:path>
            </a:pathLst>
          </a:custGeom>
          <a:blipFill rotWithShape="1">
            <a:blip r:embed="rId3">
              <a:alphaModFix/>
            </a:blip>
            <a:stretch>
              <a:fillRect b="0" l="0" r="0" t="0"/>
            </a:stretch>
          </a:blipFill>
          <a:ln>
            <a:noFill/>
          </a:ln>
        </p:spPr>
      </p:sp>
      <p:sp>
        <p:nvSpPr>
          <p:cNvPr id="218" name="Google Shape;218;p13"/>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219" name="Google Shape;219;p13"/>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220" name="Google Shape;220;p13"/>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221" name="Google Shape;221;p13"/>
          <p:cNvSpPr/>
          <p:nvPr/>
        </p:nvSpPr>
        <p:spPr>
          <a:xfrm>
            <a:off x="3424627" y="1304474"/>
            <a:ext cx="11072767" cy="8692122"/>
          </a:xfrm>
          <a:custGeom>
            <a:rect b="b" l="l" r="r" t="t"/>
            <a:pathLst>
              <a:path extrusionOk="0" h="8692122" w="11072767">
                <a:moveTo>
                  <a:pt x="0" y="0"/>
                </a:moveTo>
                <a:lnTo>
                  <a:pt x="11072767" y="0"/>
                </a:lnTo>
                <a:lnTo>
                  <a:pt x="11072767" y="8692122"/>
                </a:lnTo>
                <a:lnTo>
                  <a:pt x="0" y="8692122"/>
                </a:lnTo>
                <a:lnTo>
                  <a:pt x="0" y="0"/>
                </a:lnTo>
                <a:close/>
              </a:path>
            </a:pathLst>
          </a:custGeom>
          <a:blipFill rotWithShape="1">
            <a:blip r:embed="rId7">
              <a:alphaModFix/>
            </a:blip>
            <a:stretch>
              <a:fillRect b="0" l="0" r="0" t="0"/>
            </a:stretch>
          </a:blipFill>
          <a:ln>
            <a:noFill/>
          </a:ln>
        </p:spPr>
      </p:sp>
      <p:sp>
        <p:nvSpPr>
          <p:cNvPr id="222" name="Google Shape;222;p13"/>
          <p:cNvSpPr txBox="1"/>
          <p:nvPr/>
        </p:nvSpPr>
        <p:spPr>
          <a:xfrm>
            <a:off x="4116733" y="487823"/>
            <a:ext cx="10054534" cy="7219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5441" u="none" cap="none" strike="noStrike">
                <a:solidFill>
                  <a:srgbClr val="3D5E89"/>
                </a:solidFill>
                <a:latin typeface="League Spartan"/>
                <a:ea typeface="League Spartan"/>
                <a:cs typeface="League Spartan"/>
                <a:sym typeface="League Spartan"/>
              </a:rPr>
              <a:t>Diagrama de caso de uso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26" name="Shape 226"/>
        <p:cNvGrpSpPr/>
        <p:nvPr/>
      </p:nvGrpSpPr>
      <p:grpSpPr>
        <a:xfrm>
          <a:off x="0" y="0"/>
          <a:ext cx="0" cy="0"/>
          <a:chOff x="0" y="0"/>
          <a:chExt cx="0" cy="0"/>
        </a:xfrm>
      </p:grpSpPr>
      <p:sp>
        <p:nvSpPr>
          <p:cNvPr id="227" name="Google Shape;227;p14"/>
          <p:cNvSpPr/>
          <p:nvPr/>
        </p:nvSpPr>
        <p:spPr>
          <a:xfrm rot="5461628">
            <a:off x="1357892" y="8168529"/>
            <a:ext cx="3415397" cy="4399223"/>
          </a:xfrm>
          <a:custGeom>
            <a:rect b="b" l="l" r="r" t="t"/>
            <a:pathLst>
              <a:path extrusionOk="0" h="4399223" w="3415397">
                <a:moveTo>
                  <a:pt x="0" y="0"/>
                </a:moveTo>
                <a:lnTo>
                  <a:pt x="3415397" y="0"/>
                </a:lnTo>
                <a:lnTo>
                  <a:pt x="3415397" y="4399223"/>
                </a:lnTo>
                <a:lnTo>
                  <a:pt x="0" y="4399223"/>
                </a:lnTo>
                <a:lnTo>
                  <a:pt x="0" y="0"/>
                </a:lnTo>
                <a:close/>
              </a:path>
            </a:pathLst>
          </a:custGeom>
          <a:blipFill rotWithShape="1">
            <a:blip r:embed="rId3">
              <a:alphaModFix/>
            </a:blip>
            <a:stretch>
              <a:fillRect b="0" l="0" r="0" t="0"/>
            </a:stretch>
          </a:blipFill>
          <a:ln>
            <a:noFill/>
          </a:ln>
        </p:spPr>
      </p:sp>
      <p:sp>
        <p:nvSpPr>
          <p:cNvPr id="228" name="Google Shape;228;p14"/>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229" name="Google Shape;229;p14"/>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230" name="Google Shape;230;p14"/>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231" name="Google Shape;231;p14"/>
          <p:cNvSpPr/>
          <p:nvPr/>
        </p:nvSpPr>
        <p:spPr>
          <a:xfrm>
            <a:off x="3071836" y="1695252"/>
            <a:ext cx="12144328" cy="7855192"/>
          </a:xfrm>
          <a:custGeom>
            <a:rect b="b" l="l" r="r" t="t"/>
            <a:pathLst>
              <a:path extrusionOk="0" h="7855192" w="12144328">
                <a:moveTo>
                  <a:pt x="0" y="0"/>
                </a:moveTo>
                <a:lnTo>
                  <a:pt x="12144328" y="0"/>
                </a:lnTo>
                <a:lnTo>
                  <a:pt x="12144328" y="7855192"/>
                </a:lnTo>
                <a:lnTo>
                  <a:pt x="0" y="7855192"/>
                </a:lnTo>
                <a:lnTo>
                  <a:pt x="0" y="0"/>
                </a:lnTo>
                <a:close/>
              </a:path>
            </a:pathLst>
          </a:custGeom>
          <a:blipFill rotWithShape="1">
            <a:blip r:embed="rId7">
              <a:alphaModFix/>
            </a:blip>
            <a:stretch>
              <a:fillRect b="0" l="-696" r="-1303" t="0"/>
            </a:stretch>
          </a:blipFill>
          <a:ln>
            <a:noFill/>
          </a:ln>
        </p:spPr>
      </p:sp>
      <p:sp>
        <p:nvSpPr>
          <p:cNvPr id="232" name="Google Shape;232;p14"/>
          <p:cNvSpPr txBox="1"/>
          <p:nvPr/>
        </p:nvSpPr>
        <p:spPr>
          <a:xfrm>
            <a:off x="5221167" y="598266"/>
            <a:ext cx="7845666" cy="141054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5441" u="none" cap="none" strike="noStrike">
                <a:solidFill>
                  <a:srgbClr val="3D5E89"/>
                </a:solidFill>
                <a:latin typeface="League Spartan"/>
                <a:ea typeface="League Spartan"/>
                <a:cs typeface="League Spartan"/>
                <a:sym typeface="League Spartan"/>
              </a:rPr>
              <a:t>Patrón arquitectónico </a:t>
            </a:r>
            <a:endParaRPr/>
          </a:p>
          <a:p>
            <a:pPr indent="0" lvl="0" marL="0" marR="0" rtl="0" algn="l">
              <a:lnSpc>
                <a:spcPct val="100000"/>
              </a:lnSpc>
              <a:spcBef>
                <a:spcPts val="0"/>
              </a:spcBef>
              <a:spcAft>
                <a:spcPts val="0"/>
              </a:spcAft>
              <a:buNone/>
            </a:pPr>
            <a:r>
              <a:t/>
            </a:r>
            <a:endParaRPr b="0" i="0" sz="5441" u="none" cap="none" strike="noStrike">
              <a:solidFill>
                <a:srgbClr val="3D5E89"/>
              </a:solidFill>
              <a:latin typeface="League Spartan"/>
              <a:ea typeface="League Spartan"/>
              <a:cs typeface="League Spartan"/>
              <a:sym typeface="League Spart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36" name="Shape 236"/>
        <p:cNvGrpSpPr/>
        <p:nvPr/>
      </p:nvGrpSpPr>
      <p:grpSpPr>
        <a:xfrm>
          <a:off x="0" y="0"/>
          <a:ext cx="0" cy="0"/>
          <a:chOff x="0" y="0"/>
          <a:chExt cx="0" cy="0"/>
        </a:xfrm>
      </p:grpSpPr>
      <p:sp>
        <p:nvSpPr>
          <p:cNvPr id="237" name="Google Shape;237;p15"/>
          <p:cNvSpPr/>
          <p:nvPr/>
        </p:nvSpPr>
        <p:spPr>
          <a:xfrm rot="5461628">
            <a:off x="253458" y="8087389"/>
            <a:ext cx="3415397" cy="4399223"/>
          </a:xfrm>
          <a:custGeom>
            <a:rect b="b" l="l" r="r" t="t"/>
            <a:pathLst>
              <a:path extrusionOk="0" h="4399223" w="3415397">
                <a:moveTo>
                  <a:pt x="0" y="0"/>
                </a:moveTo>
                <a:lnTo>
                  <a:pt x="3415396" y="0"/>
                </a:lnTo>
                <a:lnTo>
                  <a:pt x="3415396" y="4399222"/>
                </a:lnTo>
                <a:lnTo>
                  <a:pt x="0" y="4399222"/>
                </a:lnTo>
                <a:lnTo>
                  <a:pt x="0" y="0"/>
                </a:lnTo>
                <a:close/>
              </a:path>
            </a:pathLst>
          </a:custGeom>
          <a:blipFill rotWithShape="1">
            <a:blip r:embed="rId3">
              <a:alphaModFix/>
            </a:blip>
            <a:stretch>
              <a:fillRect b="0" l="0" r="0" t="0"/>
            </a:stretch>
          </a:blipFill>
          <a:ln>
            <a:noFill/>
          </a:ln>
        </p:spPr>
      </p:sp>
      <p:sp>
        <p:nvSpPr>
          <p:cNvPr id="238" name="Google Shape;238;p15"/>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239" name="Google Shape;239;p15"/>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240" name="Google Shape;240;p15"/>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241" name="Google Shape;241;p15"/>
          <p:cNvSpPr/>
          <p:nvPr/>
        </p:nvSpPr>
        <p:spPr>
          <a:xfrm>
            <a:off x="4403509" y="1442810"/>
            <a:ext cx="9480982" cy="8202725"/>
          </a:xfrm>
          <a:custGeom>
            <a:rect b="b" l="l" r="r" t="t"/>
            <a:pathLst>
              <a:path extrusionOk="0" h="8202725" w="9480982">
                <a:moveTo>
                  <a:pt x="0" y="0"/>
                </a:moveTo>
                <a:lnTo>
                  <a:pt x="9480982" y="0"/>
                </a:lnTo>
                <a:lnTo>
                  <a:pt x="9480982" y="8202725"/>
                </a:lnTo>
                <a:lnTo>
                  <a:pt x="0" y="8202725"/>
                </a:lnTo>
                <a:lnTo>
                  <a:pt x="0" y="0"/>
                </a:lnTo>
                <a:close/>
              </a:path>
            </a:pathLst>
          </a:custGeom>
          <a:blipFill rotWithShape="1">
            <a:blip r:embed="rId7">
              <a:alphaModFix/>
            </a:blip>
            <a:stretch>
              <a:fillRect b="-1807" l="-2434" r="-2259" t="-2210"/>
            </a:stretch>
          </a:blipFill>
          <a:ln>
            <a:noFill/>
          </a:ln>
        </p:spPr>
      </p:sp>
      <p:sp>
        <p:nvSpPr>
          <p:cNvPr id="242" name="Google Shape;242;p15"/>
          <p:cNvSpPr txBox="1"/>
          <p:nvPr/>
        </p:nvSpPr>
        <p:spPr>
          <a:xfrm>
            <a:off x="5221167" y="720095"/>
            <a:ext cx="7845666" cy="7219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5441" u="none" cap="none" strike="noStrike">
                <a:solidFill>
                  <a:srgbClr val="3D5E89"/>
                </a:solidFill>
                <a:latin typeface="League Spartan"/>
                <a:ea typeface="League Spartan"/>
                <a:cs typeface="League Spartan"/>
                <a:sym typeface="League Spartan"/>
              </a:rPr>
              <a:t>Diagrama Vista Física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46" name="Shape 246"/>
        <p:cNvGrpSpPr/>
        <p:nvPr/>
      </p:nvGrpSpPr>
      <p:grpSpPr>
        <a:xfrm>
          <a:off x="0" y="0"/>
          <a:ext cx="0" cy="0"/>
          <a:chOff x="0" y="0"/>
          <a:chExt cx="0" cy="0"/>
        </a:xfrm>
      </p:grpSpPr>
      <p:sp>
        <p:nvSpPr>
          <p:cNvPr id="247" name="Google Shape;247;p16"/>
          <p:cNvSpPr/>
          <p:nvPr/>
        </p:nvSpPr>
        <p:spPr>
          <a:xfrm rot="5461628">
            <a:off x="253458" y="8087389"/>
            <a:ext cx="3415397" cy="4399223"/>
          </a:xfrm>
          <a:custGeom>
            <a:rect b="b" l="l" r="r" t="t"/>
            <a:pathLst>
              <a:path extrusionOk="0" h="4399223" w="3415397">
                <a:moveTo>
                  <a:pt x="0" y="0"/>
                </a:moveTo>
                <a:lnTo>
                  <a:pt x="3415396" y="0"/>
                </a:lnTo>
                <a:lnTo>
                  <a:pt x="3415396" y="4399222"/>
                </a:lnTo>
                <a:lnTo>
                  <a:pt x="0" y="4399222"/>
                </a:lnTo>
                <a:lnTo>
                  <a:pt x="0" y="0"/>
                </a:lnTo>
                <a:close/>
              </a:path>
            </a:pathLst>
          </a:custGeom>
          <a:blipFill rotWithShape="1">
            <a:blip r:embed="rId3">
              <a:alphaModFix/>
            </a:blip>
            <a:stretch>
              <a:fillRect b="0" l="0" r="0" t="0"/>
            </a:stretch>
          </a:blipFill>
          <a:ln>
            <a:noFill/>
          </a:ln>
        </p:spPr>
      </p:sp>
      <p:sp>
        <p:nvSpPr>
          <p:cNvPr id="248" name="Google Shape;248;p16"/>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249" name="Google Shape;249;p16"/>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250" name="Google Shape;250;p16"/>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251" name="Google Shape;251;p16"/>
          <p:cNvSpPr/>
          <p:nvPr/>
        </p:nvSpPr>
        <p:spPr>
          <a:xfrm>
            <a:off x="10983871" y="-119898"/>
            <a:ext cx="7197722" cy="10406898"/>
          </a:xfrm>
          <a:custGeom>
            <a:rect b="b" l="l" r="r" t="t"/>
            <a:pathLst>
              <a:path extrusionOk="0" h="10406898" w="7197722">
                <a:moveTo>
                  <a:pt x="0" y="0"/>
                </a:moveTo>
                <a:lnTo>
                  <a:pt x="7197722" y="0"/>
                </a:lnTo>
                <a:lnTo>
                  <a:pt x="7197722" y="10406898"/>
                </a:lnTo>
                <a:lnTo>
                  <a:pt x="0" y="10406898"/>
                </a:lnTo>
                <a:lnTo>
                  <a:pt x="0" y="0"/>
                </a:lnTo>
                <a:close/>
              </a:path>
            </a:pathLst>
          </a:custGeom>
          <a:blipFill rotWithShape="1">
            <a:blip r:embed="rId7">
              <a:alphaModFix/>
            </a:blip>
            <a:stretch>
              <a:fillRect b="0" l="0" r="0" t="0"/>
            </a:stretch>
          </a:blipFill>
          <a:ln>
            <a:noFill/>
          </a:ln>
        </p:spPr>
      </p:sp>
      <p:sp>
        <p:nvSpPr>
          <p:cNvPr id="252" name="Google Shape;252;p16"/>
          <p:cNvSpPr txBox="1"/>
          <p:nvPr/>
        </p:nvSpPr>
        <p:spPr>
          <a:xfrm>
            <a:off x="716654" y="4407297"/>
            <a:ext cx="9439206" cy="7219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5441" u="none" cap="none" strike="noStrike">
                <a:solidFill>
                  <a:srgbClr val="3D5E89"/>
                </a:solidFill>
                <a:latin typeface="League Spartan"/>
                <a:ea typeface="League Spartan"/>
                <a:cs typeface="League Spartan"/>
                <a:sym typeface="League Spartan"/>
              </a:rPr>
              <a:t>Diagramas de Actividades</a:t>
            </a:r>
            <a:endParaRPr/>
          </a:p>
        </p:txBody>
      </p:sp>
      <p:sp>
        <p:nvSpPr>
          <p:cNvPr id="253" name="Google Shape;253;p16"/>
          <p:cNvSpPr txBox="1"/>
          <p:nvPr/>
        </p:nvSpPr>
        <p:spPr>
          <a:xfrm>
            <a:off x="2333861" y="5349703"/>
            <a:ext cx="6204792" cy="63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741" u="none" cap="none" strike="noStrike">
                <a:solidFill>
                  <a:srgbClr val="3D5E89"/>
                </a:solidFill>
                <a:latin typeface="League Spartan"/>
                <a:ea typeface="League Spartan"/>
                <a:cs typeface="League Spartan"/>
                <a:sym typeface="League Spartan"/>
              </a:rPr>
              <a:t>Registro de Usuario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57" name="Shape 257"/>
        <p:cNvGrpSpPr/>
        <p:nvPr/>
      </p:nvGrpSpPr>
      <p:grpSpPr>
        <a:xfrm>
          <a:off x="0" y="0"/>
          <a:ext cx="0" cy="0"/>
          <a:chOff x="0" y="0"/>
          <a:chExt cx="0" cy="0"/>
        </a:xfrm>
      </p:grpSpPr>
      <p:sp>
        <p:nvSpPr>
          <p:cNvPr id="258" name="Google Shape;258;p17"/>
          <p:cNvSpPr/>
          <p:nvPr/>
        </p:nvSpPr>
        <p:spPr>
          <a:xfrm rot="5461628">
            <a:off x="253458" y="8087389"/>
            <a:ext cx="3415397" cy="4399223"/>
          </a:xfrm>
          <a:custGeom>
            <a:rect b="b" l="l" r="r" t="t"/>
            <a:pathLst>
              <a:path extrusionOk="0" h="4399223" w="3415397">
                <a:moveTo>
                  <a:pt x="0" y="0"/>
                </a:moveTo>
                <a:lnTo>
                  <a:pt x="3415396" y="0"/>
                </a:lnTo>
                <a:lnTo>
                  <a:pt x="3415396" y="4399222"/>
                </a:lnTo>
                <a:lnTo>
                  <a:pt x="0" y="4399222"/>
                </a:lnTo>
                <a:lnTo>
                  <a:pt x="0" y="0"/>
                </a:lnTo>
                <a:close/>
              </a:path>
            </a:pathLst>
          </a:custGeom>
          <a:blipFill rotWithShape="1">
            <a:blip r:embed="rId3">
              <a:alphaModFix/>
            </a:blip>
            <a:stretch>
              <a:fillRect b="0" l="0" r="0" t="0"/>
            </a:stretch>
          </a:blipFill>
          <a:ln>
            <a:noFill/>
          </a:ln>
        </p:spPr>
      </p:sp>
      <p:sp>
        <p:nvSpPr>
          <p:cNvPr id="259" name="Google Shape;259;p17"/>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260" name="Google Shape;260;p17"/>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261" name="Google Shape;261;p17"/>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262" name="Google Shape;262;p17"/>
          <p:cNvSpPr/>
          <p:nvPr/>
        </p:nvSpPr>
        <p:spPr>
          <a:xfrm>
            <a:off x="10831708" y="-14218"/>
            <a:ext cx="7330071" cy="10287000"/>
          </a:xfrm>
          <a:custGeom>
            <a:rect b="b" l="l" r="r" t="t"/>
            <a:pathLst>
              <a:path extrusionOk="0" h="10287000" w="7330071">
                <a:moveTo>
                  <a:pt x="0" y="0"/>
                </a:moveTo>
                <a:lnTo>
                  <a:pt x="7330071" y="0"/>
                </a:lnTo>
                <a:lnTo>
                  <a:pt x="7330071" y="10287000"/>
                </a:lnTo>
                <a:lnTo>
                  <a:pt x="0" y="10287000"/>
                </a:lnTo>
                <a:lnTo>
                  <a:pt x="0" y="0"/>
                </a:lnTo>
                <a:close/>
              </a:path>
            </a:pathLst>
          </a:custGeom>
          <a:blipFill rotWithShape="1">
            <a:blip r:embed="rId7">
              <a:alphaModFix/>
            </a:blip>
            <a:stretch>
              <a:fillRect b="0" l="0" r="0" t="0"/>
            </a:stretch>
          </a:blipFill>
          <a:ln>
            <a:noFill/>
          </a:ln>
        </p:spPr>
      </p:sp>
      <p:sp>
        <p:nvSpPr>
          <p:cNvPr id="263" name="Google Shape;263;p17"/>
          <p:cNvSpPr txBox="1"/>
          <p:nvPr/>
        </p:nvSpPr>
        <p:spPr>
          <a:xfrm>
            <a:off x="716654" y="4407297"/>
            <a:ext cx="9439206" cy="7219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5441" u="none" cap="none" strike="noStrike">
                <a:solidFill>
                  <a:srgbClr val="3D5E89"/>
                </a:solidFill>
                <a:latin typeface="League Spartan"/>
                <a:ea typeface="League Spartan"/>
                <a:cs typeface="League Spartan"/>
                <a:sym typeface="League Spartan"/>
              </a:rPr>
              <a:t>Diagramas de Actividades</a:t>
            </a:r>
            <a:endParaRPr/>
          </a:p>
        </p:txBody>
      </p:sp>
      <p:sp>
        <p:nvSpPr>
          <p:cNvPr id="264" name="Google Shape;264;p17"/>
          <p:cNvSpPr txBox="1"/>
          <p:nvPr/>
        </p:nvSpPr>
        <p:spPr>
          <a:xfrm>
            <a:off x="2373305" y="5349703"/>
            <a:ext cx="6125904" cy="63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741" u="none" cap="none" strike="noStrike">
                <a:solidFill>
                  <a:srgbClr val="3D5E89"/>
                </a:solidFill>
                <a:latin typeface="League Spartan"/>
                <a:ea typeface="League Spartan"/>
                <a:cs typeface="League Spartan"/>
                <a:sym typeface="League Spartan"/>
              </a:rPr>
              <a:t>Agregar Producto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68" name="Shape 268"/>
        <p:cNvGrpSpPr/>
        <p:nvPr/>
      </p:nvGrpSpPr>
      <p:grpSpPr>
        <a:xfrm>
          <a:off x="0" y="0"/>
          <a:ext cx="0" cy="0"/>
          <a:chOff x="0" y="0"/>
          <a:chExt cx="0" cy="0"/>
        </a:xfrm>
      </p:grpSpPr>
      <p:sp>
        <p:nvSpPr>
          <p:cNvPr id="269" name="Google Shape;269;p18"/>
          <p:cNvSpPr/>
          <p:nvPr/>
        </p:nvSpPr>
        <p:spPr>
          <a:xfrm rot="5461628">
            <a:off x="253458" y="8087389"/>
            <a:ext cx="3415397" cy="4399223"/>
          </a:xfrm>
          <a:custGeom>
            <a:rect b="b" l="l" r="r" t="t"/>
            <a:pathLst>
              <a:path extrusionOk="0" h="4399223" w="3415397">
                <a:moveTo>
                  <a:pt x="0" y="0"/>
                </a:moveTo>
                <a:lnTo>
                  <a:pt x="3415396" y="0"/>
                </a:lnTo>
                <a:lnTo>
                  <a:pt x="3415396" y="4399222"/>
                </a:lnTo>
                <a:lnTo>
                  <a:pt x="0" y="4399222"/>
                </a:lnTo>
                <a:lnTo>
                  <a:pt x="0" y="0"/>
                </a:lnTo>
                <a:close/>
              </a:path>
            </a:pathLst>
          </a:custGeom>
          <a:blipFill rotWithShape="1">
            <a:blip r:embed="rId3">
              <a:alphaModFix/>
            </a:blip>
            <a:stretch>
              <a:fillRect b="0" l="0" r="0" t="0"/>
            </a:stretch>
          </a:blipFill>
          <a:ln>
            <a:noFill/>
          </a:ln>
        </p:spPr>
      </p:sp>
      <p:sp>
        <p:nvSpPr>
          <p:cNvPr id="270" name="Google Shape;270;p18"/>
          <p:cNvSpPr/>
          <p:nvPr/>
        </p:nvSpPr>
        <p:spPr>
          <a:xfrm rot="5400000">
            <a:off x="-529142" y="7573339"/>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4">
              <a:alphaModFix/>
            </a:blip>
            <a:stretch>
              <a:fillRect b="0" l="0" r="0" t="0"/>
            </a:stretch>
          </a:blipFill>
          <a:ln>
            <a:noFill/>
          </a:ln>
        </p:spPr>
      </p:sp>
      <p:sp>
        <p:nvSpPr>
          <p:cNvPr id="271" name="Google Shape;271;p18"/>
          <p:cNvSpPr/>
          <p:nvPr/>
        </p:nvSpPr>
        <p:spPr>
          <a:xfrm rot="-5400000">
            <a:off x="15246642" y="-248892"/>
            <a:ext cx="3383404" cy="3383404"/>
          </a:xfrm>
          <a:custGeom>
            <a:rect b="b" l="l" r="r" t="t"/>
            <a:pathLst>
              <a:path extrusionOk="0" h="3383404" w="3383404">
                <a:moveTo>
                  <a:pt x="3383404" y="3383404"/>
                </a:moveTo>
                <a:lnTo>
                  <a:pt x="0" y="3383404"/>
                </a:lnTo>
                <a:lnTo>
                  <a:pt x="0" y="0"/>
                </a:lnTo>
                <a:lnTo>
                  <a:pt x="3383404" y="0"/>
                </a:lnTo>
                <a:lnTo>
                  <a:pt x="3383404" y="3383404"/>
                </a:lnTo>
                <a:close/>
              </a:path>
            </a:pathLst>
          </a:custGeom>
          <a:blipFill rotWithShape="1">
            <a:blip r:embed="rId5">
              <a:alphaModFix/>
            </a:blip>
            <a:stretch>
              <a:fillRect b="0" l="0" r="0" t="0"/>
            </a:stretch>
          </a:blipFill>
          <a:ln>
            <a:noFill/>
          </a:ln>
        </p:spPr>
      </p:sp>
      <p:sp>
        <p:nvSpPr>
          <p:cNvPr id="272" name="Google Shape;272;p18"/>
          <p:cNvSpPr/>
          <p:nvPr/>
        </p:nvSpPr>
        <p:spPr>
          <a:xfrm rot="-7097297">
            <a:off x="-520168" y="-2448504"/>
            <a:ext cx="3415397" cy="4399223"/>
          </a:xfrm>
          <a:custGeom>
            <a:rect b="b" l="l" r="r" t="t"/>
            <a:pathLst>
              <a:path extrusionOk="0" h="4399223" w="3415397">
                <a:moveTo>
                  <a:pt x="0" y="0"/>
                </a:moveTo>
                <a:lnTo>
                  <a:pt x="3415396" y="0"/>
                </a:lnTo>
                <a:lnTo>
                  <a:pt x="3415396" y="4399223"/>
                </a:lnTo>
                <a:lnTo>
                  <a:pt x="0" y="4399223"/>
                </a:lnTo>
                <a:lnTo>
                  <a:pt x="0" y="0"/>
                </a:lnTo>
                <a:close/>
              </a:path>
            </a:pathLst>
          </a:custGeom>
          <a:blipFill rotWithShape="1">
            <a:blip r:embed="rId6">
              <a:alphaModFix/>
            </a:blip>
            <a:stretch>
              <a:fillRect b="0" l="0" r="0" t="0"/>
            </a:stretch>
          </a:blipFill>
          <a:ln>
            <a:noFill/>
          </a:ln>
        </p:spPr>
      </p:sp>
      <p:sp>
        <p:nvSpPr>
          <p:cNvPr id="273" name="Google Shape;273;p18"/>
          <p:cNvSpPr/>
          <p:nvPr/>
        </p:nvSpPr>
        <p:spPr>
          <a:xfrm>
            <a:off x="10805664" y="-14218"/>
            <a:ext cx="7330071" cy="10287000"/>
          </a:xfrm>
          <a:custGeom>
            <a:rect b="b" l="l" r="r" t="t"/>
            <a:pathLst>
              <a:path extrusionOk="0" h="10287000" w="7330071">
                <a:moveTo>
                  <a:pt x="0" y="0"/>
                </a:moveTo>
                <a:lnTo>
                  <a:pt x="7330071" y="0"/>
                </a:lnTo>
                <a:lnTo>
                  <a:pt x="7330071" y="10287000"/>
                </a:lnTo>
                <a:lnTo>
                  <a:pt x="0" y="10287000"/>
                </a:lnTo>
                <a:lnTo>
                  <a:pt x="0" y="0"/>
                </a:lnTo>
                <a:close/>
              </a:path>
            </a:pathLst>
          </a:custGeom>
          <a:blipFill rotWithShape="1">
            <a:blip r:embed="rId7">
              <a:alphaModFix/>
            </a:blip>
            <a:stretch>
              <a:fillRect b="0" l="0" r="0" t="0"/>
            </a:stretch>
          </a:blipFill>
          <a:ln>
            <a:noFill/>
          </a:ln>
        </p:spPr>
      </p:sp>
      <p:sp>
        <p:nvSpPr>
          <p:cNvPr id="274" name="Google Shape;274;p18"/>
          <p:cNvSpPr txBox="1"/>
          <p:nvPr/>
        </p:nvSpPr>
        <p:spPr>
          <a:xfrm>
            <a:off x="3327851" y="5401800"/>
            <a:ext cx="4216811" cy="6347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741" u="none" cap="none" strike="noStrike">
                <a:solidFill>
                  <a:srgbClr val="3D5E89"/>
                </a:solidFill>
                <a:latin typeface="League Spartan"/>
                <a:ea typeface="League Spartan"/>
                <a:cs typeface="League Spartan"/>
                <a:sym typeface="League Spartan"/>
              </a:rPr>
              <a:t>Crear Pedido</a:t>
            </a:r>
            <a:endParaRPr/>
          </a:p>
        </p:txBody>
      </p:sp>
      <p:sp>
        <p:nvSpPr>
          <p:cNvPr id="275" name="Google Shape;275;p18"/>
          <p:cNvSpPr txBox="1"/>
          <p:nvPr/>
        </p:nvSpPr>
        <p:spPr>
          <a:xfrm>
            <a:off x="716654" y="4407297"/>
            <a:ext cx="9439206" cy="72198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5441" u="none" cap="none" strike="noStrike">
                <a:solidFill>
                  <a:srgbClr val="3D5E89"/>
                </a:solidFill>
                <a:latin typeface="League Spartan"/>
                <a:ea typeface="League Spartan"/>
                <a:cs typeface="League Spartan"/>
                <a:sym typeface="League Spartan"/>
              </a:rPr>
              <a:t>Diagramas de Actividades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79" name="Shape 279"/>
        <p:cNvGrpSpPr/>
        <p:nvPr/>
      </p:nvGrpSpPr>
      <p:grpSpPr>
        <a:xfrm>
          <a:off x="0" y="0"/>
          <a:ext cx="0" cy="0"/>
          <a:chOff x="0" y="0"/>
          <a:chExt cx="0" cy="0"/>
        </a:xfrm>
      </p:grpSpPr>
      <p:sp>
        <p:nvSpPr>
          <p:cNvPr id="280" name="Google Shape;280;p19"/>
          <p:cNvSpPr txBox="1"/>
          <p:nvPr/>
        </p:nvSpPr>
        <p:spPr>
          <a:xfrm>
            <a:off x="8212991" y="3862121"/>
            <a:ext cx="2548054" cy="45148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400" u="none" cap="none" strike="noStrike">
                <a:solidFill>
                  <a:srgbClr val="3D5E89"/>
                </a:solidFill>
                <a:latin typeface="Raleway"/>
                <a:ea typeface="Raleway"/>
                <a:cs typeface="Raleway"/>
                <a:sym typeface="Raleway"/>
              </a:rPr>
              <a:t>Front-end (web)</a:t>
            </a:r>
            <a:endParaRPr/>
          </a:p>
        </p:txBody>
      </p:sp>
      <p:sp>
        <p:nvSpPr>
          <p:cNvPr id="281" name="Google Shape;281;p19"/>
          <p:cNvSpPr/>
          <p:nvPr/>
        </p:nvSpPr>
        <p:spPr>
          <a:xfrm rot="-2063041">
            <a:off x="16412356" y="-977630"/>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282" name="Google Shape;282;p19"/>
          <p:cNvSpPr txBox="1"/>
          <p:nvPr/>
        </p:nvSpPr>
        <p:spPr>
          <a:xfrm>
            <a:off x="8052440" y="346215"/>
            <a:ext cx="7477120" cy="57204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266" u="none" cap="none" strike="noStrike">
                <a:solidFill>
                  <a:srgbClr val="3D5E89"/>
                </a:solidFill>
                <a:latin typeface="League Spartan"/>
                <a:ea typeface="League Spartan"/>
                <a:cs typeface="League Spartan"/>
                <a:sym typeface="League Spartan"/>
              </a:rPr>
              <a:t>Tecnologías del desarrollo</a:t>
            </a:r>
            <a:endParaRPr/>
          </a:p>
        </p:txBody>
      </p:sp>
      <p:pic>
        <p:nvPicPr>
          <p:cNvPr id="283" name="Google Shape;283;p19"/>
          <p:cNvPicPr preferRelativeResize="0"/>
          <p:nvPr/>
        </p:nvPicPr>
        <p:blipFill rotWithShape="1">
          <a:blip r:embed="rId4">
            <a:alphaModFix/>
          </a:blip>
          <a:srcRect b="8848" l="0" r="0" t="8848"/>
          <a:stretch/>
        </p:blipFill>
        <p:spPr>
          <a:xfrm>
            <a:off x="-419100" y="0"/>
            <a:ext cx="8332545" cy="10287000"/>
          </a:xfrm>
          <a:prstGeom prst="rect">
            <a:avLst/>
          </a:prstGeom>
          <a:noFill/>
          <a:ln>
            <a:noFill/>
          </a:ln>
        </p:spPr>
      </p:pic>
      <p:sp>
        <p:nvSpPr>
          <p:cNvPr id="284" name="Google Shape;284;p19"/>
          <p:cNvSpPr txBox="1"/>
          <p:nvPr/>
        </p:nvSpPr>
        <p:spPr>
          <a:xfrm>
            <a:off x="8212991" y="4323131"/>
            <a:ext cx="3415824" cy="2280285"/>
          </a:xfrm>
          <a:prstGeom prst="rect">
            <a:avLst/>
          </a:prstGeom>
          <a:noFill/>
          <a:ln>
            <a:noFill/>
          </a:ln>
        </p:spPr>
        <p:txBody>
          <a:bodyPr anchorCtr="0" anchor="t" bIns="0" lIns="0" spcFirstLastPara="1" rIns="0" wrap="square" tIns="0">
            <a:spAutoFit/>
          </a:bodyPr>
          <a:lstStyle/>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Next.js (App Router) </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Typescript</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React-Icons</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CSS</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Vercel</a:t>
            </a:r>
            <a:endParaRPr/>
          </a:p>
        </p:txBody>
      </p:sp>
      <p:sp>
        <p:nvSpPr>
          <p:cNvPr id="285" name="Google Shape;285;p19"/>
          <p:cNvSpPr txBox="1"/>
          <p:nvPr/>
        </p:nvSpPr>
        <p:spPr>
          <a:xfrm>
            <a:off x="12522624" y="3862121"/>
            <a:ext cx="3465816" cy="45148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400" u="none" cap="none" strike="noStrike">
                <a:solidFill>
                  <a:srgbClr val="3D5E89"/>
                </a:solidFill>
                <a:latin typeface="Raleway"/>
                <a:ea typeface="Raleway"/>
                <a:cs typeface="Raleway"/>
                <a:sym typeface="Raleway"/>
              </a:rPr>
              <a:t>Front-end (Mobile)</a:t>
            </a:r>
            <a:endParaRPr/>
          </a:p>
        </p:txBody>
      </p:sp>
      <p:sp>
        <p:nvSpPr>
          <p:cNvPr id="286" name="Google Shape;286;p19"/>
          <p:cNvSpPr txBox="1"/>
          <p:nvPr/>
        </p:nvSpPr>
        <p:spPr>
          <a:xfrm>
            <a:off x="12522624" y="4311342"/>
            <a:ext cx="3194937" cy="3194685"/>
          </a:xfrm>
          <a:prstGeom prst="rect">
            <a:avLst/>
          </a:prstGeom>
          <a:noFill/>
          <a:ln>
            <a:noFill/>
          </a:ln>
        </p:spPr>
        <p:txBody>
          <a:bodyPr anchorCtr="0" anchor="t" bIns="0" lIns="0" spcFirstLastPara="1" rIns="0" wrap="square" tIns="0">
            <a:spAutoFit/>
          </a:bodyPr>
          <a:lstStyle/>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React-native</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Expo</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Typescript</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Expo vector icons</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CSS</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Vercel</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Expo notifications</a:t>
            </a:r>
            <a:endParaRPr/>
          </a:p>
        </p:txBody>
      </p:sp>
      <p:sp>
        <p:nvSpPr>
          <p:cNvPr id="287" name="Google Shape;287;p19"/>
          <p:cNvSpPr txBox="1"/>
          <p:nvPr/>
        </p:nvSpPr>
        <p:spPr>
          <a:xfrm>
            <a:off x="8187822" y="994045"/>
            <a:ext cx="2548054" cy="45148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400" u="none" cap="none" strike="noStrike">
                <a:solidFill>
                  <a:srgbClr val="3D5E89"/>
                </a:solidFill>
                <a:latin typeface="Raleway"/>
                <a:ea typeface="Raleway"/>
                <a:cs typeface="Raleway"/>
                <a:sym typeface="Raleway"/>
              </a:rPr>
              <a:t>Back-end</a:t>
            </a:r>
            <a:endParaRPr/>
          </a:p>
        </p:txBody>
      </p:sp>
      <p:sp>
        <p:nvSpPr>
          <p:cNvPr id="288" name="Google Shape;288;p19"/>
          <p:cNvSpPr txBox="1"/>
          <p:nvPr/>
        </p:nvSpPr>
        <p:spPr>
          <a:xfrm>
            <a:off x="8187822" y="1549929"/>
            <a:ext cx="3415824" cy="1823085"/>
          </a:xfrm>
          <a:prstGeom prst="rect">
            <a:avLst/>
          </a:prstGeom>
          <a:noFill/>
          <a:ln>
            <a:noFill/>
          </a:ln>
        </p:spPr>
        <p:txBody>
          <a:bodyPr anchorCtr="0" anchor="t" bIns="0" lIns="0" spcFirstLastPara="1" rIns="0" wrap="square" tIns="0">
            <a:spAutoFit/>
          </a:bodyPr>
          <a:lstStyle/>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Next.js  API Routes</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Typescript</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Prisma</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Node.js</a:t>
            </a:r>
            <a:endParaRPr/>
          </a:p>
        </p:txBody>
      </p:sp>
      <p:sp>
        <p:nvSpPr>
          <p:cNvPr id="289" name="Google Shape;289;p19"/>
          <p:cNvSpPr txBox="1"/>
          <p:nvPr/>
        </p:nvSpPr>
        <p:spPr>
          <a:xfrm>
            <a:off x="8212991" y="7982712"/>
            <a:ext cx="2548054" cy="45148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400" u="none" cap="none" strike="noStrike">
                <a:solidFill>
                  <a:srgbClr val="3D5E89"/>
                </a:solidFill>
                <a:latin typeface="Raleway"/>
                <a:ea typeface="Raleway"/>
                <a:cs typeface="Raleway"/>
                <a:sym typeface="Raleway"/>
              </a:rPr>
              <a:t>Terceros</a:t>
            </a:r>
            <a:endParaRPr/>
          </a:p>
        </p:txBody>
      </p:sp>
      <p:sp>
        <p:nvSpPr>
          <p:cNvPr id="290" name="Google Shape;290;p19"/>
          <p:cNvSpPr txBox="1"/>
          <p:nvPr/>
        </p:nvSpPr>
        <p:spPr>
          <a:xfrm>
            <a:off x="8212991" y="8538596"/>
            <a:ext cx="3415824" cy="451485"/>
          </a:xfrm>
          <a:prstGeom prst="rect">
            <a:avLst/>
          </a:prstGeom>
          <a:noFill/>
          <a:ln>
            <a:noFill/>
          </a:ln>
        </p:spPr>
        <p:txBody>
          <a:bodyPr anchorCtr="0" anchor="t" bIns="0" lIns="0" spcFirstLastPara="1" rIns="0" wrap="square" tIns="0">
            <a:spAutoFit/>
          </a:bodyPr>
          <a:lstStyle/>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WebPay (transbank)</a:t>
            </a:r>
            <a:endParaRPr/>
          </a:p>
        </p:txBody>
      </p:sp>
      <p:sp>
        <p:nvSpPr>
          <p:cNvPr id="291" name="Google Shape;291;p19"/>
          <p:cNvSpPr txBox="1"/>
          <p:nvPr/>
        </p:nvSpPr>
        <p:spPr>
          <a:xfrm>
            <a:off x="12522624" y="994045"/>
            <a:ext cx="2548054" cy="45148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400" u="none" cap="none" strike="noStrike">
                <a:solidFill>
                  <a:srgbClr val="3D5E89"/>
                </a:solidFill>
                <a:latin typeface="Raleway"/>
                <a:ea typeface="Raleway"/>
                <a:cs typeface="Raleway"/>
                <a:sym typeface="Raleway"/>
              </a:rPr>
              <a:t>Base de datos</a:t>
            </a:r>
            <a:endParaRPr/>
          </a:p>
        </p:txBody>
      </p:sp>
      <p:sp>
        <p:nvSpPr>
          <p:cNvPr id="292" name="Google Shape;292;p19"/>
          <p:cNvSpPr txBox="1"/>
          <p:nvPr/>
        </p:nvSpPr>
        <p:spPr>
          <a:xfrm>
            <a:off x="12522624" y="1549929"/>
            <a:ext cx="3415824" cy="1823085"/>
          </a:xfrm>
          <a:prstGeom prst="rect">
            <a:avLst/>
          </a:prstGeom>
          <a:noFill/>
          <a:ln>
            <a:noFill/>
          </a:ln>
        </p:spPr>
        <p:txBody>
          <a:bodyPr anchorCtr="0" anchor="t" bIns="0" lIns="0" spcFirstLastPara="1" rIns="0" wrap="square" tIns="0">
            <a:spAutoFit/>
          </a:bodyPr>
          <a:lstStyle/>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PostgreSQL</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Supabase</a:t>
            </a:r>
            <a:endParaRPr/>
          </a:p>
          <a:p>
            <a:pPr indent="-259080" lvl="1" marL="518161" marR="0" rtl="0" algn="l">
              <a:lnSpc>
                <a:spcPct val="150000"/>
              </a:lnSpc>
              <a:spcBef>
                <a:spcPts val="0"/>
              </a:spcBef>
              <a:spcAft>
                <a:spcPts val="0"/>
              </a:spcAft>
              <a:buClr>
                <a:srgbClr val="3D5E89"/>
              </a:buClr>
              <a:buSzPts val="2400"/>
              <a:buFont typeface="Arial"/>
              <a:buChar char="•"/>
            </a:pPr>
            <a:r>
              <a:rPr b="0" i="0" lang="en-US" sz="2400" u="none" cap="none" strike="noStrike">
                <a:solidFill>
                  <a:srgbClr val="3D5E89"/>
                </a:solidFill>
                <a:latin typeface="Raleway"/>
                <a:ea typeface="Raleway"/>
                <a:cs typeface="Raleway"/>
                <a:sym typeface="Raleway"/>
              </a:rPr>
              <a:t>Supabase Storage</a:t>
            </a:r>
            <a:endParaRPr/>
          </a:p>
          <a:p>
            <a:pPr indent="0" lvl="0" marL="0" marR="0" rtl="0" algn="l">
              <a:lnSpc>
                <a:spcPct val="150000"/>
              </a:lnSpc>
              <a:spcBef>
                <a:spcPts val="0"/>
              </a:spcBef>
              <a:spcAft>
                <a:spcPts val="0"/>
              </a:spcAft>
              <a:buNone/>
            </a:pPr>
            <a:r>
              <a:t/>
            </a:r>
            <a:endParaRPr b="0" i="0" sz="2400" u="none" cap="none" strike="noStrike">
              <a:solidFill>
                <a:srgbClr val="3D5E89"/>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296" name="Shape 296"/>
        <p:cNvGrpSpPr/>
        <p:nvPr/>
      </p:nvGrpSpPr>
      <p:grpSpPr>
        <a:xfrm>
          <a:off x="0" y="0"/>
          <a:ext cx="0" cy="0"/>
          <a:chOff x="0" y="0"/>
          <a:chExt cx="0" cy="0"/>
        </a:xfrm>
      </p:grpSpPr>
      <p:sp>
        <p:nvSpPr>
          <p:cNvPr id="297" name="Google Shape;297;p20"/>
          <p:cNvSpPr txBox="1"/>
          <p:nvPr/>
        </p:nvSpPr>
        <p:spPr>
          <a:xfrm>
            <a:off x="1868527" y="319290"/>
            <a:ext cx="14084886" cy="1057275"/>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i="0" lang="en-US" sz="6999" u="none" cap="none" strike="noStrike">
                <a:solidFill>
                  <a:srgbClr val="3D5E89"/>
                </a:solidFill>
                <a:latin typeface="League Spartan"/>
                <a:ea typeface="League Spartan"/>
                <a:cs typeface="League Spartan"/>
                <a:sym typeface="League Spartan"/>
              </a:rPr>
              <a:t>Planificación</a:t>
            </a:r>
            <a:endParaRPr/>
          </a:p>
        </p:txBody>
      </p:sp>
      <p:sp>
        <p:nvSpPr>
          <p:cNvPr id="298" name="Google Shape;298;p20"/>
          <p:cNvSpPr/>
          <p:nvPr/>
        </p:nvSpPr>
        <p:spPr>
          <a:xfrm rot="-10708336">
            <a:off x="-1674902" y="1806892"/>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299" name="Google Shape;299;p20"/>
          <p:cNvSpPr/>
          <p:nvPr/>
        </p:nvSpPr>
        <p:spPr>
          <a:xfrm rot="10800000">
            <a:off x="-537897" y="-554514"/>
            <a:ext cx="4223721" cy="4223721"/>
          </a:xfrm>
          <a:custGeom>
            <a:rect b="b" l="l" r="r" t="t"/>
            <a:pathLst>
              <a:path extrusionOk="0" h="4223721" w="4223721">
                <a:moveTo>
                  <a:pt x="4223721" y="4223722"/>
                </a:moveTo>
                <a:lnTo>
                  <a:pt x="0" y="4223722"/>
                </a:lnTo>
                <a:lnTo>
                  <a:pt x="0" y="0"/>
                </a:lnTo>
                <a:lnTo>
                  <a:pt x="4223721" y="0"/>
                </a:lnTo>
                <a:lnTo>
                  <a:pt x="4223721" y="4223722"/>
                </a:lnTo>
                <a:close/>
              </a:path>
            </a:pathLst>
          </a:custGeom>
          <a:blipFill rotWithShape="1">
            <a:blip r:embed="rId4">
              <a:alphaModFix/>
            </a:blip>
            <a:stretch>
              <a:fillRect b="0" l="0" r="0" t="0"/>
            </a:stretch>
          </a:blipFill>
          <a:ln>
            <a:noFill/>
          </a:ln>
        </p:spPr>
      </p:sp>
      <p:sp>
        <p:nvSpPr>
          <p:cNvPr id="300" name="Google Shape;300;p20"/>
          <p:cNvSpPr/>
          <p:nvPr/>
        </p:nvSpPr>
        <p:spPr>
          <a:xfrm>
            <a:off x="16188639" y="6692265"/>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5">
              <a:alphaModFix/>
            </a:blip>
            <a:stretch>
              <a:fillRect b="0" l="0" r="0" t="0"/>
            </a:stretch>
          </a:blipFill>
          <a:ln>
            <a:noFill/>
          </a:ln>
        </p:spPr>
      </p:sp>
      <p:sp>
        <p:nvSpPr>
          <p:cNvPr id="301" name="Google Shape;301;p20"/>
          <p:cNvSpPr/>
          <p:nvPr/>
        </p:nvSpPr>
        <p:spPr>
          <a:xfrm flipH="1" rot="-10708336">
            <a:off x="16041702" y="3526454"/>
            <a:ext cx="5195793" cy="6692474"/>
          </a:xfrm>
          <a:custGeom>
            <a:rect b="b" l="l" r="r" t="t"/>
            <a:pathLst>
              <a:path extrusionOk="0" h="6692474" w="5195793">
                <a:moveTo>
                  <a:pt x="5195793" y="0"/>
                </a:moveTo>
                <a:lnTo>
                  <a:pt x="0" y="0"/>
                </a:lnTo>
                <a:lnTo>
                  <a:pt x="0" y="6692473"/>
                </a:lnTo>
                <a:lnTo>
                  <a:pt x="5195793" y="6692473"/>
                </a:lnTo>
                <a:lnTo>
                  <a:pt x="5195793" y="0"/>
                </a:lnTo>
                <a:close/>
              </a:path>
            </a:pathLst>
          </a:custGeom>
          <a:blipFill rotWithShape="1">
            <a:blip r:embed="rId3">
              <a:alphaModFix/>
            </a:blip>
            <a:stretch>
              <a:fillRect b="0" l="0" r="0" t="0"/>
            </a:stretch>
          </a:blipFill>
          <a:ln>
            <a:noFill/>
          </a:ln>
        </p:spPr>
      </p:sp>
      <p:sp>
        <p:nvSpPr>
          <p:cNvPr id="302" name="Google Shape;302;p20"/>
          <p:cNvSpPr/>
          <p:nvPr/>
        </p:nvSpPr>
        <p:spPr>
          <a:xfrm>
            <a:off x="14819027" y="-554514"/>
            <a:ext cx="4205442" cy="4205425"/>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6">
              <a:alphaModFix/>
            </a:blip>
            <a:stretch>
              <a:fillRect b="0" l="-26333" r="-2633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0"/>
          <p:cNvSpPr/>
          <p:nvPr/>
        </p:nvSpPr>
        <p:spPr>
          <a:xfrm>
            <a:off x="-683591" y="6823279"/>
            <a:ext cx="4205442" cy="4205425"/>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7">
              <a:alphaModFix/>
            </a:blip>
            <a:stretch>
              <a:fillRect b="0" l="-25045" r="-2504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04" name="Google Shape;304;p20"/>
          <p:cNvGraphicFramePr/>
          <p:nvPr/>
        </p:nvGraphicFramePr>
        <p:xfrm>
          <a:off x="2583559" y="1394696"/>
          <a:ext cx="3000000" cy="3000000"/>
        </p:xfrm>
        <a:graphic>
          <a:graphicData uri="http://schemas.openxmlformats.org/drawingml/2006/table">
            <a:tbl>
              <a:tblPr>
                <a:noFill/>
                <a:tableStyleId>{FAA894F3-C691-49A8-9997-6187D52BC20F}</a:tableStyleId>
              </a:tblPr>
              <a:tblGrid>
                <a:gridCol w="3050750"/>
                <a:gridCol w="4221700"/>
                <a:gridCol w="5848450"/>
              </a:tblGrid>
              <a:tr h="784575">
                <a:tc>
                  <a:txBody>
                    <a:bodyPr/>
                    <a:lstStyle/>
                    <a:p>
                      <a:pPr indent="0" lvl="0" marL="0" marR="0" rtl="0" algn="ctr">
                        <a:lnSpc>
                          <a:spcPct val="140000"/>
                        </a:lnSpc>
                        <a:spcBef>
                          <a:spcPts val="0"/>
                        </a:spcBef>
                        <a:spcAft>
                          <a:spcPts val="0"/>
                        </a:spcAft>
                        <a:buNone/>
                      </a:pPr>
                      <a:r>
                        <a:rPr b="1" lang="en-US" sz="1800" u="none" cap="none" strike="noStrike">
                          <a:solidFill>
                            <a:srgbClr val="FFFFFF"/>
                          </a:solidFill>
                          <a:latin typeface="Raleway"/>
                          <a:ea typeface="Raleway"/>
                          <a:cs typeface="Raleway"/>
                          <a:sym typeface="Raleway"/>
                        </a:rPr>
                        <a:t>Hito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191919"/>
                    </a:solidFill>
                  </a:tcPr>
                </a:tc>
                <a:tc>
                  <a:txBody>
                    <a:bodyPr/>
                    <a:lstStyle/>
                    <a:p>
                      <a:pPr indent="0" lvl="0" marL="0" marR="0" rtl="0" algn="ctr">
                        <a:lnSpc>
                          <a:spcPct val="140000"/>
                        </a:lnSpc>
                        <a:spcBef>
                          <a:spcPts val="0"/>
                        </a:spcBef>
                        <a:spcAft>
                          <a:spcPts val="0"/>
                        </a:spcAft>
                        <a:buNone/>
                      </a:pPr>
                      <a:r>
                        <a:rPr b="1" lang="en-US" sz="1800" u="none" cap="none" strike="noStrike">
                          <a:solidFill>
                            <a:srgbClr val="FFFFFF"/>
                          </a:solidFill>
                          <a:latin typeface="Raleway"/>
                          <a:ea typeface="Raleway"/>
                          <a:cs typeface="Raleway"/>
                          <a:sym typeface="Raleway"/>
                        </a:rPr>
                        <a:t>Fecha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191919"/>
                    </a:solidFill>
                  </a:tcPr>
                </a:tc>
                <a:tc>
                  <a:txBody>
                    <a:bodyPr/>
                    <a:lstStyle/>
                    <a:p>
                      <a:pPr indent="0" lvl="0" marL="0" marR="0" rtl="0" algn="ctr">
                        <a:lnSpc>
                          <a:spcPct val="140000"/>
                        </a:lnSpc>
                        <a:spcBef>
                          <a:spcPts val="0"/>
                        </a:spcBef>
                        <a:spcAft>
                          <a:spcPts val="0"/>
                        </a:spcAft>
                        <a:buNone/>
                      </a:pPr>
                      <a:r>
                        <a:rPr b="1" lang="en-US" sz="1800" u="none" cap="none" strike="noStrike">
                          <a:solidFill>
                            <a:srgbClr val="FFFFFF"/>
                          </a:solidFill>
                          <a:latin typeface="Raleway"/>
                          <a:ea typeface="Raleway"/>
                          <a:cs typeface="Raleway"/>
                          <a:sym typeface="Raleway"/>
                        </a:rPr>
                        <a:t>Descripción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191919"/>
                    </a:solidFill>
                  </a:tcPr>
                </a:tc>
              </a:tr>
              <a:tr h="1100300">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Fase de planificación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23/08</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Definición del alcance, objetivos, equipo de trabajo, y planificación general del proyecto.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r>
              <a:tr h="1100300">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Fase de análisis y diseño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07/09</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Elaboración de requerimientos, modelos de casos de uso, diagramas, y diseño de la solución.</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r>
              <a:tr h="1100300">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Desarrollo de la doc. del proyecto (Fase 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07/09</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Entrega de documentos iniciales como Acta de Constitución, ERS y arquitectura preliminar.</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r>
              <a:tr h="1100300">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Fase de desarrollo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18/09</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Comienzo del desarrollo de las aplicaciones web y mobile.</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r>
              <a:tr h="1100300">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Fase de pruebas y QA</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24/11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Ejecución de pruebas unitarias, integrales y de aceptación, tanto en web como en app.</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r>
              <a:tr h="1109875">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Documentación final</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29/11</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22"/>
                        </a:lnSpc>
                        <a:spcBef>
                          <a:spcPts val="0"/>
                        </a:spcBef>
                        <a:spcAft>
                          <a:spcPts val="0"/>
                        </a:spcAft>
                        <a:buNone/>
                      </a:pPr>
                      <a:r>
                        <a:rPr lang="en-US" sz="1799" u="none" cap="none" strike="noStrike">
                          <a:solidFill>
                            <a:srgbClr val="000000"/>
                          </a:solidFill>
                          <a:latin typeface="Open Sans"/>
                          <a:ea typeface="Open Sans"/>
                          <a:cs typeface="Open Sans"/>
                          <a:sym typeface="Open Sans"/>
                        </a:rPr>
                        <a:t>Consolidación de la documentación técnica, manuales de usuario y evidencias finales.</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r>
              <a:tr h="1109875">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Despliegue del proyecto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00"/>
                        </a:lnSpc>
                        <a:spcBef>
                          <a:spcPts val="0"/>
                        </a:spcBef>
                        <a:spcAft>
                          <a:spcPts val="0"/>
                        </a:spcAft>
                        <a:buNone/>
                      </a:pPr>
                      <a:r>
                        <a:rPr lang="en-US" sz="1800" u="none" cap="none" strike="noStrike">
                          <a:solidFill>
                            <a:srgbClr val="000000"/>
                          </a:solidFill>
                          <a:latin typeface="Raleway"/>
                          <a:ea typeface="Raleway"/>
                          <a:cs typeface="Raleway"/>
                          <a:sym typeface="Raleway"/>
                        </a:rPr>
                        <a:t>04/12</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c>
                  <a:txBody>
                    <a:bodyPr/>
                    <a:lstStyle/>
                    <a:p>
                      <a:pPr indent="0" lvl="0" marL="0" marR="0" rtl="0" algn="ctr">
                        <a:lnSpc>
                          <a:spcPct val="140022"/>
                        </a:lnSpc>
                        <a:spcBef>
                          <a:spcPts val="0"/>
                        </a:spcBef>
                        <a:spcAft>
                          <a:spcPts val="0"/>
                        </a:spcAft>
                        <a:buNone/>
                      </a:pPr>
                      <a:r>
                        <a:rPr lang="en-US" sz="1799" u="none" cap="none" strike="noStrike">
                          <a:solidFill>
                            <a:srgbClr val="000000"/>
                          </a:solidFill>
                          <a:latin typeface="Open Sans"/>
                          <a:ea typeface="Open Sans"/>
                          <a:cs typeface="Open Sans"/>
                          <a:sym typeface="Open Sans"/>
                        </a:rPr>
                        <a:t>Entrega final del sistema completo, pruebas generales y presentación del proyecto.</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308" name="Shape 308"/>
        <p:cNvGrpSpPr/>
        <p:nvPr/>
      </p:nvGrpSpPr>
      <p:grpSpPr>
        <a:xfrm>
          <a:off x="0" y="0"/>
          <a:ext cx="0" cy="0"/>
          <a:chOff x="0" y="0"/>
          <a:chExt cx="0" cy="0"/>
        </a:xfrm>
      </p:grpSpPr>
      <p:sp>
        <p:nvSpPr>
          <p:cNvPr id="309" name="Google Shape;309;p21"/>
          <p:cNvSpPr/>
          <p:nvPr/>
        </p:nvSpPr>
        <p:spPr>
          <a:xfrm rot="-10708336">
            <a:off x="-1796822" y="1666931"/>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310" name="Google Shape;310;p21"/>
          <p:cNvSpPr/>
          <p:nvPr/>
        </p:nvSpPr>
        <p:spPr>
          <a:xfrm rot="10800000">
            <a:off x="-1315524" y="-1633340"/>
            <a:ext cx="4223721" cy="4223721"/>
          </a:xfrm>
          <a:custGeom>
            <a:rect b="b" l="l" r="r" t="t"/>
            <a:pathLst>
              <a:path extrusionOk="0" h="4223721" w="4223721">
                <a:moveTo>
                  <a:pt x="4223721" y="4223721"/>
                </a:moveTo>
                <a:lnTo>
                  <a:pt x="0" y="4223721"/>
                </a:lnTo>
                <a:lnTo>
                  <a:pt x="0" y="0"/>
                </a:lnTo>
                <a:lnTo>
                  <a:pt x="4223721" y="0"/>
                </a:lnTo>
                <a:lnTo>
                  <a:pt x="4223721" y="4223721"/>
                </a:lnTo>
                <a:close/>
              </a:path>
            </a:pathLst>
          </a:custGeom>
          <a:blipFill rotWithShape="1">
            <a:blip r:embed="rId4">
              <a:alphaModFix/>
            </a:blip>
            <a:stretch>
              <a:fillRect b="0" l="0" r="0" t="0"/>
            </a:stretch>
          </a:blipFill>
          <a:ln>
            <a:noFill/>
          </a:ln>
        </p:spPr>
      </p:sp>
      <p:sp>
        <p:nvSpPr>
          <p:cNvPr id="311" name="Google Shape;311;p21"/>
          <p:cNvSpPr/>
          <p:nvPr/>
        </p:nvSpPr>
        <p:spPr>
          <a:xfrm>
            <a:off x="3493371" y="2367628"/>
            <a:ext cx="11301259" cy="5551743"/>
          </a:xfrm>
          <a:custGeom>
            <a:rect b="b" l="l" r="r" t="t"/>
            <a:pathLst>
              <a:path extrusionOk="0" h="5551743" w="11301259">
                <a:moveTo>
                  <a:pt x="0" y="0"/>
                </a:moveTo>
                <a:lnTo>
                  <a:pt x="11301258" y="0"/>
                </a:lnTo>
                <a:lnTo>
                  <a:pt x="11301258" y="5551744"/>
                </a:lnTo>
                <a:lnTo>
                  <a:pt x="0" y="5551744"/>
                </a:lnTo>
                <a:lnTo>
                  <a:pt x="0" y="0"/>
                </a:lnTo>
                <a:close/>
              </a:path>
            </a:pathLst>
          </a:custGeom>
          <a:blipFill rotWithShape="1">
            <a:blip r:embed="rId5">
              <a:alphaModFix/>
            </a:blip>
            <a:stretch>
              <a:fillRect b="0" l="0" r="0" t="0"/>
            </a:stretch>
          </a:blipFill>
          <a:ln>
            <a:noFill/>
          </a:ln>
        </p:spPr>
      </p:sp>
      <p:sp>
        <p:nvSpPr>
          <p:cNvPr id="312" name="Google Shape;312;p21"/>
          <p:cNvSpPr txBox="1"/>
          <p:nvPr/>
        </p:nvSpPr>
        <p:spPr>
          <a:xfrm>
            <a:off x="2591974" y="1152525"/>
            <a:ext cx="13419605" cy="894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700" u="none" cap="none" strike="noStrike">
                <a:solidFill>
                  <a:srgbClr val="3D5E89"/>
                </a:solidFill>
                <a:latin typeface="League Spartan"/>
                <a:ea typeface="League Spartan"/>
                <a:cs typeface="League Spartan"/>
                <a:sym typeface="League Spartan"/>
              </a:rPr>
              <a:t>Resumen de Costos Estimados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A"/>
        </a:solidFill>
      </p:bgPr>
    </p:bg>
    <p:spTree>
      <p:nvGrpSpPr>
        <p:cNvPr id="316" name="Shape 316"/>
        <p:cNvGrpSpPr/>
        <p:nvPr/>
      </p:nvGrpSpPr>
      <p:grpSpPr>
        <a:xfrm>
          <a:off x="0" y="0"/>
          <a:ext cx="0" cy="0"/>
          <a:chOff x="0" y="0"/>
          <a:chExt cx="0" cy="0"/>
        </a:xfrm>
      </p:grpSpPr>
      <p:sp>
        <p:nvSpPr>
          <p:cNvPr id="317" name="Google Shape;317;g38a0933e8cc_0_0"/>
          <p:cNvSpPr/>
          <p:nvPr/>
        </p:nvSpPr>
        <p:spPr>
          <a:xfrm rot="-10705486">
            <a:off x="-1796267" y="1664081"/>
            <a:ext cx="3195789" cy="4116356"/>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3">
              <a:alphaModFix/>
            </a:blip>
            <a:stretch>
              <a:fillRect b="0" l="0" r="0" t="0"/>
            </a:stretch>
          </a:blipFill>
          <a:ln>
            <a:noFill/>
          </a:ln>
        </p:spPr>
      </p:sp>
      <p:sp>
        <p:nvSpPr>
          <p:cNvPr id="318" name="Google Shape;318;g38a0933e8cc_0_0"/>
          <p:cNvSpPr/>
          <p:nvPr/>
        </p:nvSpPr>
        <p:spPr>
          <a:xfrm rot="10800000">
            <a:off x="-1315524" y="-1633340"/>
            <a:ext cx="4223721" cy="4223721"/>
          </a:xfrm>
          <a:custGeom>
            <a:rect b="b" l="l" r="r" t="t"/>
            <a:pathLst>
              <a:path extrusionOk="0" h="4223721" w="4223721">
                <a:moveTo>
                  <a:pt x="4223721" y="4223721"/>
                </a:moveTo>
                <a:lnTo>
                  <a:pt x="0" y="4223721"/>
                </a:lnTo>
                <a:lnTo>
                  <a:pt x="0" y="0"/>
                </a:lnTo>
                <a:lnTo>
                  <a:pt x="4223721" y="0"/>
                </a:lnTo>
                <a:lnTo>
                  <a:pt x="4223721" y="4223721"/>
                </a:lnTo>
                <a:close/>
              </a:path>
            </a:pathLst>
          </a:custGeom>
          <a:blipFill rotWithShape="1">
            <a:blip r:embed="rId4">
              <a:alphaModFix/>
            </a:blip>
            <a:stretch>
              <a:fillRect b="0" l="0" r="0" t="0"/>
            </a:stretch>
          </a:blipFill>
          <a:ln>
            <a:noFill/>
          </a:ln>
        </p:spPr>
      </p:sp>
      <p:sp>
        <p:nvSpPr>
          <p:cNvPr id="319" name="Google Shape;319;g38a0933e8cc_0_0"/>
          <p:cNvSpPr txBox="1"/>
          <p:nvPr/>
        </p:nvSpPr>
        <p:spPr>
          <a:xfrm>
            <a:off x="2665874" y="650000"/>
            <a:ext cx="13419600" cy="103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700" u="none" cap="none" strike="noStrike">
                <a:solidFill>
                  <a:srgbClr val="3D5E89"/>
                </a:solidFill>
                <a:latin typeface="League Spartan"/>
                <a:ea typeface="League Spartan"/>
                <a:cs typeface="League Spartan"/>
                <a:sym typeface="League Spartan"/>
              </a:rPr>
              <a:t>Resumen de Costos Estimados</a:t>
            </a:r>
            <a:endParaRPr/>
          </a:p>
        </p:txBody>
      </p:sp>
      <p:pic>
        <p:nvPicPr>
          <p:cNvPr id="320" name="Google Shape;320;g38a0933e8cc_0_0"/>
          <p:cNvPicPr preferRelativeResize="0"/>
          <p:nvPr/>
        </p:nvPicPr>
        <p:blipFill>
          <a:blip r:embed="rId5">
            <a:alphaModFix/>
          </a:blip>
          <a:stretch>
            <a:fillRect/>
          </a:stretch>
        </p:blipFill>
        <p:spPr>
          <a:xfrm>
            <a:off x="735876" y="2518549"/>
            <a:ext cx="4821475" cy="7356800"/>
          </a:xfrm>
          <a:prstGeom prst="rect">
            <a:avLst/>
          </a:prstGeom>
          <a:noFill/>
          <a:ln>
            <a:noFill/>
          </a:ln>
        </p:spPr>
      </p:pic>
      <p:pic>
        <p:nvPicPr>
          <p:cNvPr id="321" name="Google Shape;321;g38a0933e8cc_0_0"/>
          <p:cNvPicPr preferRelativeResize="0"/>
          <p:nvPr/>
        </p:nvPicPr>
        <p:blipFill>
          <a:blip r:embed="rId6">
            <a:alphaModFix/>
          </a:blip>
          <a:stretch>
            <a:fillRect/>
          </a:stretch>
        </p:blipFill>
        <p:spPr>
          <a:xfrm>
            <a:off x="5857575" y="2518550"/>
            <a:ext cx="4681600" cy="7356800"/>
          </a:xfrm>
          <a:prstGeom prst="rect">
            <a:avLst/>
          </a:prstGeom>
          <a:noFill/>
          <a:ln>
            <a:noFill/>
          </a:ln>
        </p:spPr>
      </p:pic>
      <p:pic>
        <p:nvPicPr>
          <p:cNvPr id="322" name="Google Shape;322;g38a0933e8cc_0_0"/>
          <p:cNvPicPr preferRelativeResize="0"/>
          <p:nvPr/>
        </p:nvPicPr>
        <p:blipFill>
          <a:blip r:embed="rId7">
            <a:alphaModFix/>
          </a:blip>
          <a:stretch>
            <a:fillRect/>
          </a:stretch>
        </p:blipFill>
        <p:spPr>
          <a:xfrm>
            <a:off x="11477000" y="4729650"/>
            <a:ext cx="6332025" cy="2772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D5E89"/>
        </a:solidFill>
      </p:bgPr>
    </p:bg>
    <p:spTree>
      <p:nvGrpSpPr>
        <p:cNvPr id="326" name="Shape 326"/>
        <p:cNvGrpSpPr/>
        <p:nvPr/>
      </p:nvGrpSpPr>
      <p:grpSpPr>
        <a:xfrm>
          <a:off x="0" y="0"/>
          <a:ext cx="0" cy="0"/>
          <a:chOff x="0" y="0"/>
          <a:chExt cx="0" cy="0"/>
        </a:xfrm>
      </p:grpSpPr>
      <p:sp>
        <p:nvSpPr>
          <p:cNvPr id="327" name="Google Shape;327;p22"/>
          <p:cNvSpPr/>
          <p:nvPr/>
        </p:nvSpPr>
        <p:spPr>
          <a:xfrm rot="-8769296">
            <a:off x="-678998" y="-1419221"/>
            <a:ext cx="3415397" cy="4399223"/>
          </a:xfrm>
          <a:custGeom>
            <a:rect b="b" l="l" r="r" t="t"/>
            <a:pathLst>
              <a:path extrusionOk="0" h="4399223" w="3415397">
                <a:moveTo>
                  <a:pt x="0" y="0"/>
                </a:moveTo>
                <a:lnTo>
                  <a:pt x="3415396" y="0"/>
                </a:lnTo>
                <a:lnTo>
                  <a:pt x="3415396" y="4399222"/>
                </a:lnTo>
                <a:lnTo>
                  <a:pt x="0" y="4399222"/>
                </a:lnTo>
                <a:lnTo>
                  <a:pt x="0" y="0"/>
                </a:lnTo>
                <a:close/>
              </a:path>
            </a:pathLst>
          </a:custGeom>
          <a:blipFill rotWithShape="1">
            <a:blip r:embed="rId3">
              <a:alphaModFix/>
            </a:blip>
            <a:stretch>
              <a:fillRect b="0" l="0" r="0" t="0"/>
            </a:stretch>
          </a:blipFill>
          <a:ln>
            <a:noFill/>
          </a:ln>
        </p:spPr>
      </p:sp>
      <p:sp>
        <p:nvSpPr>
          <p:cNvPr id="328" name="Google Shape;328;p22"/>
          <p:cNvSpPr/>
          <p:nvPr/>
        </p:nvSpPr>
        <p:spPr>
          <a:xfrm rot="-5400000">
            <a:off x="15147439" y="-1212179"/>
            <a:ext cx="4223721" cy="4223721"/>
          </a:xfrm>
          <a:custGeom>
            <a:rect b="b" l="l" r="r" t="t"/>
            <a:pathLst>
              <a:path extrusionOk="0" h="4223721" w="4223721">
                <a:moveTo>
                  <a:pt x="4223722" y="4223721"/>
                </a:moveTo>
                <a:lnTo>
                  <a:pt x="0" y="4223721"/>
                </a:lnTo>
                <a:lnTo>
                  <a:pt x="0" y="0"/>
                </a:lnTo>
                <a:lnTo>
                  <a:pt x="4223722" y="0"/>
                </a:lnTo>
                <a:lnTo>
                  <a:pt x="4223722" y="4223721"/>
                </a:lnTo>
                <a:close/>
              </a:path>
            </a:pathLst>
          </a:custGeom>
          <a:blipFill rotWithShape="1">
            <a:blip r:embed="rId4">
              <a:alphaModFix/>
            </a:blip>
            <a:stretch>
              <a:fillRect b="0" l="0" r="0" t="0"/>
            </a:stretch>
          </a:blipFill>
          <a:ln>
            <a:noFill/>
          </a:ln>
        </p:spPr>
      </p:sp>
      <p:sp>
        <p:nvSpPr>
          <p:cNvPr id="329" name="Google Shape;329;p22"/>
          <p:cNvSpPr txBox="1"/>
          <p:nvPr/>
        </p:nvSpPr>
        <p:spPr>
          <a:xfrm>
            <a:off x="3283730" y="4745038"/>
            <a:ext cx="11720539" cy="930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999" u="sng" cap="none" strike="noStrike">
                <a:solidFill>
                  <a:srgbClr val="FFFFFF"/>
                </a:solidFill>
                <a:latin typeface="League Spartan"/>
                <a:ea typeface="League Spartan"/>
                <a:cs typeface="League Spartan"/>
                <a:sym typeface="League Spartan"/>
                <a:hlinkClick r:id="rId5">
                  <a:extLst>
                    <a:ext uri="{A12FA001-AC4F-418D-AE19-62706E023703}">
                      <ahyp:hlinkClr val="tx"/>
                    </a:ext>
                  </a:extLst>
                </a:hlinkClick>
              </a:rPr>
              <a:t>Presentación del sistema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4E1F6"/>
        </a:solidFill>
      </p:bgPr>
    </p:bg>
    <p:spTree>
      <p:nvGrpSpPr>
        <p:cNvPr id="333" name="Shape 333"/>
        <p:cNvGrpSpPr/>
        <p:nvPr/>
      </p:nvGrpSpPr>
      <p:grpSpPr>
        <a:xfrm>
          <a:off x="0" y="0"/>
          <a:ext cx="0" cy="0"/>
          <a:chOff x="0" y="0"/>
          <a:chExt cx="0" cy="0"/>
        </a:xfrm>
      </p:grpSpPr>
      <p:sp>
        <p:nvSpPr>
          <p:cNvPr id="334" name="Google Shape;334;p23"/>
          <p:cNvSpPr/>
          <p:nvPr/>
        </p:nvSpPr>
        <p:spPr>
          <a:xfrm rot="-10708336">
            <a:off x="-3066093" y="-1258023"/>
            <a:ext cx="4978964" cy="6413186"/>
          </a:xfrm>
          <a:custGeom>
            <a:rect b="b" l="l" r="r" t="t"/>
            <a:pathLst>
              <a:path extrusionOk="0" h="6413186" w="4978964">
                <a:moveTo>
                  <a:pt x="0" y="0"/>
                </a:moveTo>
                <a:lnTo>
                  <a:pt x="4978964" y="0"/>
                </a:lnTo>
                <a:lnTo>
                  <a:pt x="4978964" y="6413186"/>
                </a:lnTo>
                <a:lnTo>
                  <a:pt x="0" y="6413186"/>
                </a:lnTo>
                <a:lnTo>
                  <a:pt x="0" y="0"/>
                </a:lnTo>
                <a:close/>
              </a:path>
            </a:pathLst>
          </a:custGeom>
          <a:blipFill rotWithShape="1">
            <a:blip r:embed="rId3">
              <a:alphaModFix/>
            </a:blip>
            <a:stretch>
              <a:fillRect b="0" l="0" r="0" t="0"/>
            </a:stretch>
          </a:blipFill>
          <a:ln>
            <a:noFill/>
          </a:ln>
        </p:spPr>
      </p:sp>
      <p:sp>
        <p:nvSpPr>
          <p:cNvPr id="335" name="Google Shape;335;p23"/>
          <p:cNvSpPr txBox="1"/>
          <p:nvPr/>
        </p:nvSpPr>
        <p:spPr>
          <a:xfrm>
            <a:off x="3002310" y="2283796"/>
            <a:ext cx="6141690" cy="1057275"/>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1" i="0" lang="en-US" sz="6999" u="none" cap="none" strike="noStrike">
                <a:solidFill>
                  <a:srgbClr val="3D5E89"/>
                </a:solidFill>
                <a:latin typeface="League Spartan"/>
                <a:ea typeface="League Spartan"/>
                <a:cs typeface="League Spartan"/>
                <a:sym typeface="League Spartan"/>
              </a:rPr>
              <a:t>Cierre</a:t>
            </a:r>
            <a:endParaRPr/>
          </a:p>
        </p:txBody>
      </p:sp>
      <p:sp>
        <p:nvSpPr>
          <p:cNvPr id="336" name="Google Shape;336;p23"/>
          <p:cNvSpPr txBox="1"/>
          <p:nvPr/>
        </p:nvSpPr>
        <p:spPr>
          <a:xfrm>
            <a:off x="1839701" y="3538206"/>
            <a:ext cx="6425688" cy="524637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3D5E89"/>
                </a:solidFill>
                <a:latin typeface="Raleway"/>
                <a:ea typeface="Raleway"/>
                <a:cs typeface="Raleway"/>
                <a:sym typeface="Raleway"/>
              </a:rPr>
              <a:t>Con este proyecto, se busca aportar una solución tecnológica concreta a una necesidad real, demostrando la aplicación de los conocimientos adquiridos durante la carrera de Ingeniería Informática. “Divino Bizcochito” representa no solo la digitalización de un negocio local, sino también el compromiso del equipo con la innovación, la eficiencia y la mejora continua. Este trabajo refleja la capacidad de transformar ideas en soluciones tecnológicas con impacto real.</a:t>
            </a:r>
            <a:endParaRPr/>
          </a:p>
        </p:txBody>
      </p:sp>
      <p:sp>
        <p:nvSpPr>
          <p:cNvPr id="337" name="Google Shape;337;p23"/>
          <p:cNvSpPr/>
          <p:nvPr/>
        </p:nvSpPr>
        <p:spPr>
          <a:xfrm>
            <a:off x="14697309" y="5220395"/>
            <a:ext cx="5534201" cy="7128361"/>
          </a:xfrm>
          <a:custGeom>
            <a:rect b="b" l="l" r="r" t="t"/>
            <a:pathLst>
              <a:path extrusionOk="0" h="7128361" w="5534201">
                <a:moveTo>
                  <a:pt x="0" y="0"/>
                </a:moveTo>
                <a:lnTo>
                  <a:pt x="5534200" y="0"/>
                </a:lnTo>
                <a:lnTo>
                  <a:pt x="5534200" y="7128361"/>
                </a:lnTo>
                <a:lnTo>
                  <a:pt x="0" y="7128361"/>
                </a:lnTo>
                <a:lnTo>
                  <a:pt x="0" y="0"/>
                </a:lnTo>
                <a:close/>
              </a:path>
            </a:pathLst>
          </a:custGeom>
          <a:blipFill rotWithShape="1">
            <a:blip r:embed="rId4">
              <a:alphaModFix/>
            </a:blip>
            <a:stretch>
              <a:fillRect b="0" l="0" r="0" t="0"/>
            </a:stretch>
          </a:blipFill>
          <a:ln>
            <a:noFill/>
          </a:ln>
        </p:spPr>
      </p:sp>
      <p:sp>
        <p:nvSpPr>
          <p:cNvPr id="338" name="Google Shape;338;p23"/>
          <p:cNvSpPr/>
          <p:nvPr/>
        </p:nvSpPr>
        <p:spPr>
          <a:xfrm>
            <a:off x="9310611" y="1169172"/>
            <a:ext cx="7948689" cy="7948657"/>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5">
              <a:alphaModFix/>
            </a:blip>
            <a:stretch>
              <a:fillRect b="0" l="-28581" r="-2858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